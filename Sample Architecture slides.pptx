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774" r:id="rId2"/>
    <p:sldId id="7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5B152-AC8C-4403-9F92-53EAC59E2567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F8E59-6A6F-4EF0-B69C-45978B17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0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55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648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gemini.com/optimize-your-business-and-it-operations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6071-D2E5-48EE-9731-DB1192ABB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B5FEE-BBA1-4216-8EB5-C303E9FF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E43F-A1A1-4CEF-AC88-22CB59D5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444DC-616A-49DA-A924-8BEA5334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13ED-E9B8-4866-AEF2-83094D6E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53D3-8C86-449F-8A07-EC336B71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617E1-8BFA-43C7-814B-6050E36F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A76DB-CF77-4B27-A62B-6A299DD6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6C354-0623-4A55-8C00-8541AAF1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9B21-A06F-4E2A-AC8A-E6AC9E85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6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DDA57-AA58-4411-9B47-D3A27A2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DDE95-24B1-419E-84FB-0F6C1F73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F11C8-01C8-49F8-BA81-1411482A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6E69-206B-4DD9-94A7-BD1E2F25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D694B-CD7C-422D-9922-EF6E7674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2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BC34-980D-4375-9C4C-10925F05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395B-8B53-41FC-86B4-1463C088B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8221F-C43F-4337-998A-6352965CC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66834-0DB2-4A54-BF42-ECF6FCE3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68C9D-81D9-4A6C-A250-E10C5B01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DBAAE-7A98-4B24-9CAE-3B05E07D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5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3264-79F4-485B-AAE3-1D7AE579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36138-4B84-4945-A13C-BB0C8C5C1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0C2B8-42EC-40F8-BF5B-D1E101115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39A00-DE5D-49DD-9CCE-67DD33A71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4F2EF-1591-4760-AA16-6301C0899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533A9-3D6D-4897-9D64-99A58FD5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76BA1-4C95-4C2D-8AF7-A8700F64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6A342-6722-4F0D-A5E8-779EBB54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9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5976-3419-4121-93FC-F17D1706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B3CD2-E687-4423-A7AA-AB8854A0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DE605-1572-4FC8-9451-81953710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859BF-835E-41AE-BD82-90B80EC8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2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1574D-5023-436C-BA4E-A68FA159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9846B-479E-4259-9FE1-3E4C4797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8D914-14D5-4113-BA9C-8FDD4F31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3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DD1A-9830-43E3-8B45-49080171D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9D61-0CC0-4287-80E9-9352B9496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55499-20F4-47ED-A1A1-ABC920B5D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2FDC2-6034-4365-85F0-18E159C3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AC019-F559-4465-899F-0FE60796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370EF-3729-4A18-97B9-98FF4D93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46ED-9502-41FD-BA7F-24A02CF8A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FF012-2054-462A-B9BF-A123DB850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008BB-2B28-4177-9F40-F89975E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1D165-3EB2-4AEE-AE38-BC9D9B82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0BAD2-D328-4AC2-AA0E-6D800DA59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7061D-680D-4CEC-808A-E8E167FA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8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5C2E-9B36-4B81-8606-E11A2CF9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9874E-A69A-4F4D-B6E3-F3654DA71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96EF5-E763-47EE-9FF8-F588204E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2E9DA-3D16-49C5-852E-F14866BB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1EEF7-AE48-4988-AC53-BD7A8287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34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FCCB72-6D7E-496F-819B-928732AE0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F07C-29F5-44E5-A0D1-784790795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46ED-C2FC-4CB0-ACDB-D6848A67B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0468-F47F-4909-8FA3-6E4BD3BE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FF7ED-27E7-4097-BCE3-DE1CA52D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36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cxnSp>
        <p:nvCxnSpPr>
          <p:cNvPr id="7" name="Conector reto 49">
            <a:extLst>
              <a:ext uri="{FF2B5EF4-FFF2-40B4-BE49-F238E27FC236}">
                <a16:creationId xmlns:a16="http://schemas.microsoft.com/office/drawing/2014/main" id="{6B6D7F6B-C184-4C2B-8EB7-067E0C1E8DF2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3674" y="6587911"/>
            <a:ext cx="0" cy="155576"/>
          </a:xfrm>
          <a:prstGeom prst="line">
            <a:avLst/>
          </a:prstGeom>
          <a:solidFill>
            <a:schemeClr val="tx1"/>
          </a:solidFill>
          <a:ln w="127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43">
            <a:extLst>
              <a:ext uri="{FF2B5EF4-FFF2-40B4-BE49-F238E27FC236}">
                <a16:creationId xmlns:a16="http://schemas.microsoft.com/office/drawing/2014/main" id="{834ADCB4-BFB1-450D-8F6D-64217F4CD92C}"/>
              </a:ext>
            </a:extLst>
          </p:cNvPr>
          <p:cNvSpPr/>
          <p:nvPr userDrawn="1"/>
        </p:nvSpPr>
        <p:spPr>
          <a:xfrm>
            <a:off x="3411379" y="6555758"/>
            <a:ext cx="2223686" cy="21945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© 2018 Capgemini. All rights reserved.</a:t>
            </a:r>
          </a:p>
        </p:txBody>
      </p:sp>
      <p:sp>
        <p:nvSpPr>
          <p:cNvPr id="6" name="Rectangle 27">
            <a:hlinkClick r:id="rId2"/>
            <a:extLst>
              <a:ext uri="{FF2B5EF4-FFF2-40B4-BE49-F238E27FC236}">
                <a16:creationId xmlns:a16="http://schemas.microsoft.com/office/drawing/2014/main" id="{77B300E7-0B74-4C73-848A-62CD0E41EA6C}"/>
              </a:ext>
            </a:extLst>
          </p:cNvPr>
          <p:cNvSpPr/>
          <p:nvPr userDrawn="1"/>
        </p:nvSpPr>
        <p:spPr>
          <a:xfrm>
            <a:off x="165612" y="6555971"/>
            <a:ext cx="3339588" cy="215231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lvl="0" algn="l" defTabSz="914400">
              <a:lnSpc>
                <a:spcPct val="85000"/>
              </a:lnSpc>
              <a:defRPr/>
            </a:pPr>
            <a:r>
              <a:rPr lang="en-US" sz="800" dirty="0"/>
              <a:t>Migration Architecture – WORK IN PROGRESS v1.0</a:t>
            </a:r>
            <a:endParaRPr lang="en-US" sz="800" kern="0" dirty="0">
              <a:solidFill>
                <a:srgbClr val="00458D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09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51D89-0277-42D5-BE46-86E8CA4E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BD715-4CE4-4CA5-B942-F8CA4D72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63083-50FB-49C3-8155-ADB502724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C75BB-2044-425B-BC96-F0242611BD1D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1C9C2-55C0-4F3D-BF87-0B680609B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0A01D-8836-4F11-98B4-E2DF7E15B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BC0BF-7DD1-43EF-ABF6-558B4EFA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4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7.emf"/><Relationship Id="rId5" Type="http://schemas.openxmlformats.org/officeDocument/2006/relationships/image" Target="../media/image3.emf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1C105C6-691D-472D-A909-D0BA0B81207F}"/>
              </a:ext>
            </a:extLst>
          </p:cNvPr>
          <p:cNvGrpSpPr/>
          <p:nvPr/>
        </p:nvGrpSpPr>
        <p:grpSpPr>
          <a:xfrm>
            <a:off x="1028370" y="773103"/>
            <a:ext cx="10469037" cy="5740429"/>
            <a:chOff x="1610634" y="1692750"/>
            <a:chExt cx="10469037" cy="562088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77BB7A7-5185-4A44-A689-32114052C694}"/>
                </a:ext>
              </a:extLst>
            </p:cNvPr>
            <p:cNvSpPr/>
            <p:nvPr/>
          </p:nvSpPr>
          <p:spPr>
            <a:xfrm rot="16200000">
              <a:off x="6200408" y="1434367"/>
              <a:ext cx="1289513" cy="10469013"/>
            </a:xfrm>
            <a:prstGeom prst="rect">
              <a:avLst/>
            </a:prstGeom>
            <a:solidFill>
              <a:srgbClr val="DBEEF3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Source 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55C44C-43EF-4849-A71F-CF30366EAF0E}"/>
                </a:ext>
              </a:extLst>
            </p:cNvPr>
            <p:cNvSpPr/>
            <p:nvPr/>
          </p:nvSpPr>
          <p:spPr>
            <a:xfrm rot="16200000">
              <a:off x="6121050" y="69941"/>
              <a:ext cx="1448229" cy="10469013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Ingestion &amp; Staging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FEA945E-2FF7-48C1-9300-ED10191E78BC}"/>
                </a:ext>
              </a:extLst>
            </p:cNvPr>
            <p:cNvSpPr/>
            <p:nvPr/>
          </p:nvSpPr>
          <p:spPr>
            <a:xfrm rot="16200000">
              <a:off x="6176425" y="-1322900"/>
              <a:ext cx="1337463" cy="10469002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Processing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E3EB7D0-A7E7-464C-B57C-49E694886B72}"/>
                </a:ext>
              </a:extLst>
            </p:cNvPr>
            <p:cNvSpPr/>
            <p:nvPr/>
          </p:nvSpPr>
          <p:spPr>
            <a:xfrm rot="16200000">
              <a:off x="6070087" y="-2766703"/>
              <a:ext cx="1550118" cy="10469024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Reporting &amp; Analytics</a:t>
              </a:r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B36C6DE3-EF78-451A-87D7-DCCDFC4D0E23}"/>
              </a:ext>
            </a:extLst>
          </p:cNvPr>
          <p:cNvSpPr txBox="1"/>
          <p:nvPr/>
        </p:nvSpPr>
        <p:spPr>
          <a:xfrm>
            <a:off x="2941005" y="5845886"/>
            <a:ext cx="1982543" cy="1846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</a:rPr>
              <a:t>APPROVED FILE BASED DATA SOURCES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F3E23C8-87B5-4BBF-BBAD-4A22C7909F5D}"/>
              </a:ext>
            </a:extLst>
          </p:cNvPr>
          <p:cNvSpPr txBox="1"/>
          <p:nvPr/>
        </p:nvSpPr>
        <p:spPr>
          <a:xfrm>
            <a:off x="7205931" y="5613789"/>
            <a:ext cx="2045063" cy="1846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</a:rPr>
              <a:t>APPROVED RELEATIONAL DATA SOURCES</a:t>
            </a: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6F812F26-2682-48ED-94CF-423CA325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834" y="5574204"/>
            <a:ext cx="646687" cy="738664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E5BA48EB-2E8A-49DA-8812-AFF6E1165AA7}"/>
              </a:ext>
            </a:extLst>
          </p:cNvPr>
          <p:cNvSpPr txBox="1"/>
          <p:nvPr/>
        </p:nvSpPr>
        <p:spPr>
          <a:xfrm>
            <a:off x="7630472" y="3192207"/>
            <a:ext cx="2280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REPORTING DATABASE (DATA MART)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A370A40A-237F-4A76-A8EC-C682DC294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659" y="3006652"/>
            <a:ext cx="886073" cy="616280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DD21887E-8CEF-4FAC-BF3D-7E6AE18A7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616" y="1399453"/>
            <a:ext cx="1089186" cy="841260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7DFD5592-6EC2-49E0-B22D-CDBE6A0C02E1}"/>
              </a:ext>
            </a:extLst>
          </p:cNvPr>
          <p:cNvSpPr txBox="1"/>
          <p:nvPr/>
        </p:nvSpPr>
        <p:spPr>
          <a:xfrm>
            <a:off x="4814576" y="1687925"/>
            <a:ext cx="615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MOLAP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28600CC-5E6E-4C10-86DF-3477DC0AE6D3}"/>
              </a:ext>
            </a:extLst>
          </p:cNvPr>
          <p:cNvSpPr txBox="1"/>
          <p:nvPr/>
        </p:nvSpPr>
        <p:spPr>
          <a:xfrm>
            <a:off x="8856405" y="1626001"/>
            <a:ext cx="615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ROLAP</a:t>
            </a:r>
          </a:p>
        </p:txBody>
      </p:sp>
      <p:pic>
        <p:nvPicPr>
          <p:cNvPr id="201" name="Picture 6" descr="Image result for azure gateway">
            <a:extLst>
              <a:ext uri="{FF2B5EF4-FFF2-40B4-BE49-F238E27FC236}">
                <a16:creationId xmlns:a16="http://schemas.microsoft.com/office/drawing/2014/main" id="{5C176AE8-E1B1-45F6-8F47-33ED1BA0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596" y="5406937"/>
            <a:ext cx="737734" cy="417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07C17A2F-759E-4D7A-BA9E-C07AEAEE5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5538" y="4873684"/>
            <a:ext cx="483552" cy="462517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C252E70-7828-466A-AC47-15A1ABE31E4E}"/>
              </a:ext>
            </a:extLst>
          </p:cNvPr>
          <p:cNvCxnSpPr>
            <a:stCxn id="164" idx="1"/>
            <a:endCxn id="179" idx="3"/>
          </p:cNvCxnSpPr>
          <p:nvPr/>
        </p:nvCxnSpPr>
        <p:spPr>
          <a:xfrm flipH="1">
            <a:off x="2680521" y="5938219"/>
            <a:ext cx="260484" cy="5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8BBD998-A0CD-4187-97C2-AA30F18F001E}"/>
              </a:ext>
            </a:extLst>
          </p:cNvPr>
          <p:cNvCxnSpPr>
            <a:cxnSpLocks/>
            <a:stCxn id="179" idx="0"/>
            <a:endCxn id="201" idx="1"/>
          </p:cNvCxnSpPr>
          <p:nvPr/>
        </p:nvCxnSpPr>
        <p:spPr>
          <a:xfrm rot="16200000" flipH="1">
            <a:off x="2896068" y="5035314"/>
            <a:ext cx="41638" cy="1119418"/>
          </a:xfrm>
          <a:prstGeom prst="bentConnector4">
            <a:avLst>
              <a:gd name="adj1" fmla="val -295624"/>
              <a:gd name="adj2" fmla="val 644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2B47887-F73E-4CC8-978B-83A79B89DA03}"/>
              </a:ext>
            </a:extLst>
          </p:cNvPr>
          <p:cNvCxnSpPr>
            <a:stCxn id="201" idx="0"/>
            <a:endCxn id="202" idx="1"/>
          </p:cNvCxnSpPr>
          <p:nvPr/>
        </p:nvCxnSpPr>
        <p:spPr>
          <a:xfrm rot="5400000" flipH="1" flipV="1">
            <a:off x="3864503" y="5085903"/>
            <a:ext cx="301994" cy="340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16AF26B-A7EB-4C06-911A-3C4F376754CF}"/>
              </a:ext>
            </a:extLst>
          </p:cNvPr>
          <p:cNvCxnSpPr>
            <a:cxnSpLocks/>
            <a:stCxn id="202" idx="0"/>
          </p:cNvCxnSpPr>
          <p:nvPr/>
        </p:nvCxnSpPr>
        <p:spPr>
          <a:xfrm rot="5400000" flipH="1" flipV="1">
            <a:off x="4743018" y="4395376"/>
            <a:ext cx="162605" cy="7940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3" name="Picture 202">
            <a:extLst>
              <a:ext uri="{FF2B5EF4-FFF2-40B4-BE49-F238E27FC236}">
                <a16:creationId xmlns:a16="http://schemas.microsoft.com/office/drawing/2014/main" id="{CFAE9DBD-9D94-4972-A265-E45D93C91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2635" y="4868267"/>
            <a:ext cx="483552" cy="462517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B5EF9D75-EC72-4231-A3FC-CCEDC51AAED1}"/>
              </a:ext>
            </a:extLst>
          </p:cNvPr>
          <p:cNvCxnSpPr>
            <a:cxnSpLocks/>
            <a:stCxn id="165" idx="0"/>
            <a:endCxn id="203" idx="2"/>
          </p:cNvCxnSpPr>
          <p:nvPr/>
        </p:nvCxnSpPr>
        <p:spPr>
          <a:xfrm rot="16200000" flipV="1">
            <a:off x="7939935" y="5325261"/>
            <a:ext cx="283005" cy="294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3A003C1-E858-41CF-8F5D-E3DC2EBA6742}"/>
              </a:ext>
            </a:extLst>
          </p:cNvPr>
          <p:cNvCxnSpPr>
            <a:cxnSpLocks/>
            <a:stCxn id="203" idx="0"/>
          </p:cNvCxnSpPr>
          <p:nvPr/>
        </p:nvCxnSpPr>
        <p:spPr>
          <a:xfrm rot="16200000" flipV="1">
            <a:off x="7411181" y="4345037"/>
            <a:ext cx="202488" cy="8439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711AD193-CAD8-452D-905D-03C583538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792" y="3585101"/>
            <a:ext cx="483552" cy="462517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E8235C9-E9FF-48FD-B018-12757C9B9FF0}"/>
              </a:ext>
            </a:extLst>
          </p:cNvPr>
          <p:cNvCxnSpPr>
            <a:cxnSpLocks/>
            <a:endCxn id="204" idx="2"/>
          </p:cNvCxnSpPr>
          <p:nvPr/>
        </p:nvCxnSpPr>
        <p:spPr>
          <a:xfrm rot="16200000" flipV="1">
            <a:off x="4097569" y="2586617"/>
            <a:ext cx="252962" cy="31749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BDA9CE8-B899-4229-B12A-2BAA177B0E4C}"/>
              </a:ext>
            </a:extLst>
          </p:cNvPr>
          <p:cNvCxnSpPr>
            <a:cxnSpLocks/>
            <a:stCxn id="204" idx="0"/>
          </p:cNvCxnSpPr>
          <p:nvPr/>
        </p:nvCxnSpPr>
        <p:spPr>
          <a:xfrm rot="5400000" flipH="1" flipV="1">
            <a:off x="2973198" y="3171591"/>
            <a:ext cx="76881" cy="750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3E9054B3-FF11-4AAF-BFB6-6767FB949198}"/>
              </a:ext>
            </a:extLst>
          </p:cNvPr>
          <p:cNvCxnSpPr>
            <a:stCxn id="191" idx="0"/>
            <a:endCxn id="193" idx="2"/>
          </p:cNvCxnSpPr>
          <p:nvPr/>
        </p:nvCxnSpPr>
        <p:spPr>
          <a:xfrm rot="16200000" flipV="1">
            <a:off x="6229484" y="1927439"/>
            <a:ext cx="765939" cy="13924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9B7ABC91-295D-48F5-9E86-3CB5A9422278}"/>
              </a:ext>
            </a:extLst>
          </p:cNvPr>
          <p:cNvCxnSpPr>
            <a:cxnSpLocks/>
            <a:stCxn id="191" idx="0"/>
            <a:endCxn id="61" idx="2"/>
          </p:cNvCxnSpPr>
          <p:nvPr/>
        </p:nvCxnSpPr>
        <p:spPr>
          <a:xfrm rot="5400000" flipH="1" flipV="1">
            <a:off x="7524320" y="2020018"/>
            <a:ext cx="771011" cy="12022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471CAE7-184F-4F0E-A3DB-2522FFED02A0}"/>
              </a:ext>
            </a:extLst>
          </p:cNvPr>
          <p:cNvSpPr/>
          <p:nvPr/>
        </p:nvSpPr>
        <p:spPr>
          <a:xfrm>
            <a:off x="7464470" y="821824"/>
            <a:ext cx="15279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</a:rPr>
              <a:t>REPORTS &amp; DASHBOARDS</a:t>
            </a:r>
            <a:endParaRPr lang="en-US" sz="8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A24A752-4983-418D-AC1A-028A812F01A0}"/>
              </a:ext>
            </a:extLst>
          </p:cNvPr>
          <p:cNvSpPr txBox="1"/>
          <p:nvPr/>
        </p:nvSpPr>
        <p:spPr>
          <a:xfrm>
            <a:off x="1173124" y="5869453"/>
            <a:ext cx="916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ON-PREMISE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BCD4A8-7B37-4339-A2F9-117966F6DBD8}"/>
              </a:ext>
            </a:extLst>
          </p:cNvPr>
          <p:cNvGrpSpPr/>
          <p:nvPr/>
        </p:nvGrpSpPr>
        <p:grpSpPr>
          <a:xfrm>
            <a:off x="6694334" y="834083"/>
            <a:ext cx="1026469" cy="618623"/>
            <a:chOff x="6483813" y="1351670"/>
            <a:chExt cx="1026469" cy="61862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55C22489-5269-4B72-8D52-F9F33A559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69221" y="1425230"/>
              <a:ext cx="519035" cy="372554"/>
            </a:xfrm>
            <a:prstGeom prst="rect">
              <a:avLst/>
            </a:prstGeom>
          </p:spPr>
        </p:pic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08E8CD8-5174-4DCA-AC3B-9CF3FA589BCC}"/>
                </a:ext>
              </a:extLst>
            </p:cNvPr>
            <p:cNvSpPr/>
            <p:nvPr/>
          </p:nvSpPr>
          <p:spPr>
            <a:xfrm>
              <a:off x="6483813" y="1351670"/>
              <a:ext cx="781112" cy="56134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0E4785-E0E0-4F22-B759-1EEE6B770426}"/>
                </a:ext>
              </a:extLst>
            </p:cNvPr>
            <p:cNvSpPr txBox="1"/>
            <p:nvPr/>
          </p:nvSpPr>
          <p:spPr>
            <a:xfrm>
              <a:off x="6483813" y="1685271"/>
              <a:ext cx="1026469" cy="285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Power BI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66EC9D3-18FC-46D3-88C2-CE9DEC7427A5}"/>
              </a:ext>
            </a:extLst>
          </p:cNvPr>
          <p:cNvGrpSpPr/>
          <p:nvPr/>
        </p:nvGrpSpPr>
        <p:grpSpPr>
          <a:xfrm>
            <a:off x="7867849" y="1264198"/>
            <a:ext cx="1018084" cy="971443"/>
            <a:chOff x="4497935" y="237334"/>
            <a:chExt cx="1018084" cy="971443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A39CB6A-285D-4D78-9258-D6580A431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34513" y="436488"/>
              <a:ext cx="837315" cy="576667"/>
            </a:xfrm>
            <a:prstGeom prst="rect">
              <a:avLst/>
            </a:prstGeom>
          </p:spPr>
        </p:pic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B827159-FD44-4DFF-A60A-81757B476630}"/>
                </a:ext>
              </a:extLst>
            </p:cNvPr>
            <p:cNvSpPr/>
            <p:nvPr/>
          </p:nvSpPr>
          <p:spPr>
            <a:xfrm>
              <a:off x="4497935" y="237334"/>
              <a:ext cx="1018084" cy="9216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FA9E222-9A6C-450E-BC8F-4463DB625FE1}"/>
                </a:ext>
              </a:extLst>
            </p:cNvPr>
            <p:cNvSpPr txBox="1"/>
            <p:nvPr/>
          </p:nvSpPr>
          <p:spPr>
            <a:xfrm>
              <a:off x="4795591" y="931778"/>
              <a:ext cx="690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AAS</a:t>
              </a:r>
            </a:p>
          </p:txBody>
        </p:sp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703E9DF-3CF3-492C-8A83-A1001FAE8DCE}"/>
              </a:ext>
            </a:extLst>
          </p:cNvPr>
          <p:cNvCxnSpPr>
            <a:stCxn id="193" idx="0"/>
          </p:cNvCxnSpPr>
          <p:nvPr/>
        </p:nvCxnSpPr>
        <p:spPr>
          <a:xfrm rot="5400000" flipH="1" flipV="1">
            <a:off x="6152505" y="857625"/>
            <a:ext cx="305533" cy="7781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4AFFA05-8F5F-40A0-A7E9-20AF45146C51}"/>
              </a:ext>
            </a:extLst>
          </p:cNvPr>
          <p:cNvCxnSpPr>
            <a:stCxn id="60" idx="0"/>
            <a:endCxn id="54" idx="3"/>
          </p:cNvCxnSpPr>
          <p:nvPr/>
        </p:nvCxnSpPr>
        <p:spPr>
          <a:xfrm rot="16200000" flipV="1">
            <a:off x="7851448" y="738754"/>
            <a:ext cx="149442" cy="9014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CDCB1A6-7567-443D-9D13-974F3F5D202D}"/>
              </a:ext>
            </a:extLst>
          </p:cNvPr>
          <p:cNvSpPr/>
          <p:nvPr/>
        </p:nvSpPr>
        <p:spPr>
          <a:xfrm>
            <a:off x="5216083" y="4333973"/>
            <a:ext cx="1874356" cy="61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A8FDF49-5389-436A-8824-E4B9C9BB04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3602" y="4391252"/>
            <a:ext cx="421745" cy="505201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CFB8C51-D52E-4AAA-9492-56A1EB753223}"/>
              </a:ext>
            </a:extLst>
          </p:cNvPr>
          <p:cNvSpPr txBox="1"/>
          <p:nvPr/>
        </p:nvSpPr>
        <p:spPr>
          <a:xfrm>
            <a:off x="5735347" y="4509595"/>
            <a:ext cx="13550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Universal Data Lake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288AEDD-9AC9-4E8F-B4ED-D416642AE1A0}"/>
              </a:ext>
            </a:extLst>
          </p:cNvPr>
          <p:cNvSpPr/>
          <p:nvPr/>
        </p:nvSpPr>
        <p:spPr>
          <a:xfrm>
            <a:off x="7823212" y="3978167"/>
            <a:ext cx="1427782" cy="6223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784DB0-9BEE-4A0A-B3E2-F432266AD7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26" y="4026795"/>
            <a:ext cx="434787" cy="39073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B969987-A136-4BC4-89B5-8BB22BEDA369}"/>
              </a:ext>
            </a:extLst>
          </p:cNvPr>
          <p:cNvSpPr txBox="1"/>
          <p:nvPr/>
        </p:nvSpPr>
        <p:spPr>
          <a:xfrm>
            <a:off x="7780933" y="4382866"/>
            <a:ext cx="1389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Data Bricks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72EAEE-BF66-4B46-9727-5F4C0623E9E0}"/>
              </a:ext>
            </a:extLst>
          </p:cNvPr>
          <p:cNvSpPr txBox="1"/>
          <p:nvPr/>
        </p:nvSpPr>
        <p:spPr>
          <a:xfrm>
            <a:off x="9161480" y="4090014"/>
            <a:ext cx="142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TECHNICAL DATA VALIDATION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E8F30B8-64CE-4060-B6DD-90055EDB7965}"/>
              </a:ext>
            </a:extLst>
          </p:cNvPr>
          <p:cNvCxnSpPr/>
          <p:nvPr/>
        </p:nvCxnSpPr>
        <p:spPr>
          <a:xfrm>
            <a:off x="7067878" y="4373136"/>
            <a:ext cx="7478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76E3157-63CA-4BCC-9E16-49EFB9A41274}"/>
              </a:ext>
            </a:extLst>
          </p:cNvPr>
          <p:cNvSpPr/>
          <p:nvPr/>
        </p:nvSpPr>
        <p:spPr>
          <a:xfrm>
            <a:off x="3404496" y="3006785"/>
            <a:ext cx="1855496" cy="61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60CCE10-5B15-44E2-8564-E73B455171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170" y="3064064"/>
            <a:ext cx="421745" cy="505201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EB467C6-7C49-4823-B102-38581980CC4E}"/>
              </a:ext>
            </a:extLst>
          </p:cNvPr>
          <p:cNvSpPr txBox="1"/>
          <p:nvPr/>
        </p:nvSpPr>
        <p:spPr>
          <a:xfrm>
            <a:off x="3945915" y="3182406"/>
            <a:ext cx="1314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Product Data Store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2654E14-A6E9-4D9A-A643-771415A95F90}"/>
              </a:ext>
            </a:extLst>
          </p:cNvPr>
          <p:cNvSpPr/>
          <p:nvPr/>
        </p:nvSpPr>
        <p:spPr>
          <a:xfrm>
            <a:off x="1606580" y="2678689"/>
            <a:ext cx="1427782" cy="6223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5DE6E51-EF3C-4AB4-8BA7-F6544834A0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1494" y="2727317"/>
            <a:ext cx="434787" cy="390734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D82EC91-924B-498D-A00B-2BBC9BAEF952}"/>
              </a:ext>
            </a:extLst>
          </p:cNvPr>
          <p:cNvSpPr txBox="1"/>
          <p:nvPr/>
        </p:nvSpPr>
        <p:spPr>
          <a:xfrm>
            <a:off x="1559515" y="3066025"/>
            <a:ext cx="1389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Data Bricks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A14D4A0-C3D1-4FFC-B405-34F038E92002}"/>
              </a:ext>
            </a:extLst>
          </p:cNvPr>
          <p:cNvCxnSpPr/>
          <p:nvPr/>
        </p:nvCxnSpPr>
        <p:spPr>
          <a:xfrm>
            <a:off x="2999810" y="3097964"/>
            <a:ext cx="4221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1981616-BC69-4936-A337-9530DF3D6A84}"/>
              </a:ext>
            </a:extLst>
          </p:cNvPr>
          <p:cNvSpPr txBox="1"/>
          <p:nvPr/>
        </p:nvSpPr>
        <p:spPr>
          <a:xfrm>
            <a:off x="1462180" y="2334329"/>
            <a:ext cx="1583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BUSINESS RULES &amp; TRANSFORMATION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33DA453-1993-4861-A2FD-BE466B63F2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7383" y="3086134"/>
            <a:ext cx="483552" cy="46251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F30C80-56ED-40B1-BE1C-9387D3CB3DBE}"/>
              </a:ext>
            </a:extLst>
          </p:cNvPr>
          <p:cNvCxnSpPr>
            <a:cxnSpLocks/>
            <a:stCxn id="82" idx="3"/>
            <a:endCxn id="101" idx="1"/>
          </p:cNvCxnSpPr>
          <p:nvPr/>
        </p:nvCxnSpPr>
        <p:spPr>
          <a:xfrm>
            <a:off x="5259992" y="3316665"/>
            <a:ext cx="647391" cy="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890187-D1C9-409A-BB95-A44D2824D238}"/>
              </a:ext>
            </a:extLst>
          </p:cNvPr>
          <p:cNvCxnSpPr>
            <a:stCxn id="101" idx="3"/>
            <a:endCxn id="191" idx="1"/>
          </p:cNvCxnSpPr>
          <p:nvPr/>
        </p:nvCxnSpPr>
        <p:spPr>
          <a:xfrm flipV="1">
            <a:off x="6390935" y="3314792"/>
            <a:ext cx="474724" cy="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18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1C105C6-691D-472D-A909-D0BA0B81207F}"/>
              </a:ext>
            </a:extLst>
          </p:cNvPr>
          <p:cNvGrpSpPr/>
          <p:nvPr/>
        </p:nvGrpSpPr>
        <p:grpSpPr>
          <a:xfrm>
            <a:off x="1028370" y="773103"/>
            <a:ext cx="10469037" cy="5740429"/>
            <a:chOff x="1610634" y="1692750"/>
            <a:chExt cx="10469037" cy="562088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77BB7A7-5185-4A44-A689-32114052C694}"/>
                </a:ext>
              </a:extLst>
            </p:cNvPr>
            <p:cNvSpPr/>
            <p:nvPr/>
          </p:nvSpPr>
          <p:spPr>
            <a:xfrm rot="16200000">
              <a:off x="6200408" y="1434367"/>
              <a:ext cx="1289513" cy="10469013"/>
            </a:xfrm>
            <a:prstGeom prst="rect">
              <a:avLst/>
            </a:prstGeom>
            <a:solidFill>
              <a:srgbClr val="DBEEF3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Source 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55C44C-43EF-4849-A71F-CF30366EAF0E}"/>
                </a:ext>
              </a:extLst>
            </p:cNvPr>
            <p:cNvSpPr/>
            <p:nvPr/>
          </p:nvSpPr>
          <p:spPr>
            <a:xfrm rot="16200000">
              <a:off x="6121050" y="69941"/>
              <a:ext cx="1448229" cy="10469013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Ingestion &amp; Staging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FEA945E-2FF7-48C1-9300-ED10191E78BC}"/>
                </a:ext>
              </a:extLst>
            </p:cNvPr>
            <p:cNvSpPr/>
            <p:nvPr/>
          </p:nvSpPr>
          <p:spPr>
            <a:xfrm rot="16200000">
              <a:off x="6176425" y="-1322900"/>
              <a:ext cx="1337463" cy="10469002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Data Processing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E3EB7D0-A7E7-464C-B57C-49E694886B72}"/>
                </a:ext>
              </a:extLst>
            </p:cNvPr>
            <p:cNvSpPr/>
            <p:nvPr/>
          </p:nvSpPr>
          <p:spPr>
            <a:xfrm rot="16200000">
              <a:off x="6070087" y="-2766703"/>
              <a:ext cx="1550118" cy="10469024"/>
            </a:xfrm>
            <a:prstGeom prst="rect">
              <a:avLst/>
            </a:prstGeom>
            <a:solidFill>
              <a:srgbClr val="EBF1DF"/>
            </a:solidFill>
            <a:ln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u="sng" dirty="0">
                  <a:solidFill>
                    <a:sysClr val="windowText" lastClr="000000"/>
                  </a:solidFill>
                </a:rPr>
                <a:t>Reporting &amp; Analytics</a:t>
              </a:r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B36C6DE3-EF78-451A-87D7-DCCDFC4D0E23}"/>
              </a:ext>
            </a:extLst>
          </p:cNvPr>
          <p:cNvSpPr txBox="1"/>
          <p:nvPr/>
        </p:nvSpPr>
        <p:spPr>
          <a:xfrm>
            <a:off x="2941005" y="5845886"/>
            <a:ext cx="2174071" cy="20005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</a:rPr>
              <a:t>APPROVED FILE BASED DATA SOURCES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F3E23C8-87B5-4BBF-BBAD-4A22C7909F5D}"/>
              </a:ext>
            </a:extLst>
          </p:cNvPr>
          <p:cNvSpPr txBox="1"/>
          <p:nvPr/>
        </p:nvSpPr>
        <p:spPr>
          <a:xfrm>
            <a:off x="5235203" y="6135450"/>
            <a:ext cx="2395269" cy="20005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</a:rPr>
              <a:t>APPROVED RELATIONAL &amp; BIG DATA SOURCES</a:t>
            </a: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6F812F26-2682-48ED-94CF-423CA325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834" y="5574204"/>
            <a:ext cx="646687" cy="738664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E5BA48EB-2E8A-49DA-8812-AFF6E1165AA7}"/>
              </a:ext>
            </a:extLst>
          </p:cNvPr>
          <p:cNvSpPr txBox="1"/>
          <p:nvPr/>
        </p:nvSpPr>
        <p:spPr>
          <a:xfrm>
            <a:off x="9177915" y="3192207"/>
            <a:ext cx="2280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REPORTING DATABASE (DATA MART)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A370A40A-237F-4A76-A8EC-C682DC294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102" y="3006652"/>
            <a:ext cx="886073" cy="616280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DD21887E-8CEF-4FAC-BF3D-7E6AE18A7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616" y="1513771"/>
            <a:ext cx="781112" cy="603311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7DFD5592-6EC2-49E0-B22D-CDBE6A0C02E1}"/>
              </a:ext>
            </a:extLst>
          </p:cNvPr>
          <p:cNvSpPr txBox="1"/>
          <p:nvPr/>
        </p:nvSpPr>
        <p:spPr>
          <a:xfrm>
            <a:off x="4814576" y="1687925"/>
            <a:ext cx="615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MOLAP</a:t>
            </a:r>
          </a:p>
        </p:txBody>
      </p:sp>
      <p:pic>
        <p:nvPicPr>
          <p:cNvPr id="201" name="Picture 6" descr="Image result for azure gateway">
            <a:extLst>
              <a:ext uri="{FF2B5EF4-FFF2-40B4-BE49-F238E27FC236}">
                <a16:creationId xmlns:a16="http://schemas.microsoft.com/office/drawing/2014/main" id="{5C176AE8-E1B1-45F6-8F47-33ED1BA0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596" y="5406937"/>
            <a:ext cx="737734" cy="417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07C17A2F-759E-4D7A-BA9E-C07AEAEE5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5538" y="4873684"/>
            <a:ext cx="483552" cy="462517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C252E70-7828-466A-AC47-15A1ABE31E4E}"/>
              </a:ext>
            </a:extLst>
          </p:cNvPr>
          <p:cNvCxnSpPr>
            <a:cxnSpLocks/>
            <a:stCxn id="164" idx="1"/>
            <a:endCxn id="179" idx="3"/>
          </p:cNvCxnSpPr>
          <p:nvPr/>
        </p:nvCxnSpPr>
        <p:spPr>
          <a:xfrm flipH="1" flipV="1">
            <a:off x="2680521" y="5943536"/>
            <a:ext cx="260484" cy="2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8BBD998-A0CD-4187-97C2-AA30F18F001E}"/>
              </a:ext>
            </a:extLst>
          </p:cNvPr>
          <p:cNvCxnSpPr>
            <a:cxnSpLocks/>
            <a:stCxn id="179" idx="0"/>
            <a:endCxn id="201" idx="1"/>
          </p:cNvCxnSpPr>
          <p:nvPr/>
        </p:nvCxnSpPr>
        <p:spPr>
          <a:xfrm rot="16200000" flipH="1">
            <a:off x="2896068" y="5035314"/>
            <a:ext cx="41638" cy="1119418"/>
          </a:xfrm>
          <a:prstGeom prst="bentConnector4">
            <a:avLst>
              <a:gd name="adj1" fmla="val -295624"/>
              <a:gd name="adj2" fmla="val 644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2B47887-F73E-4CC8-978B-83A79B89DA03}"/>
              </a:ext>
            </a:extLst>
          </p:cNvPr>
          <p:cNvCxnSpPr>
            <a:stCxn id="201" idx="0"/>
            <a:endCxn id="202" idx="1"/>
          </p:cNvCxnSpPr>
          <p:nvPr/>
        </p:nvCxnSpPr>
        <p:spPr>
          <a:xfrm rot="5400000" flipH="1" flipV="1">
            <a:off x="3864503" y="5085903"/>
            <a:ext cx="301994" cy="340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16AF26B-A7EB-4C06-911A-3C4F376754CF}"/>
              </a:ext>
            </a:extLst>
          </p:cNvPr>
          <p:cNvCxnSpPr>
            <a:cxnSpLocks/>
            <a:stCxn id="202" idx="0"/>
          </p:cNvCxnSpPr>
          <p:nvPr/>
        </p:nvCxnSpPr>
        <p:spPr>
          <a:xfrm rot="5400000" flipH="1" flipV="1">
            <a:off x="4743018" y="4395376"/>
            <a:ext cx="162605" cy="7940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3" name="Picture 202">
            <a:extLst>
              <a:ext uri="{FF2B5EF4-FFF2-40B4-BE49-F238E27FC236}">
                <a16:creationId xmlns:a16="http://schemas.microsoft.com/office/drawing/2014/main" id="{CFAE9DBD-9D94-4972-A265-E45D93C91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507" y="5258560"/>
            <a:ext cx="483552" cy="462517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B5EF9D75-EC72-4231-A3FC-CCEDC51AAED1}"/>
              </a:ext>
            </a:extLst>
          </p:cNvPr>
          <p:cNvCxnSpPr>
            <a:cxnSpLocks/>
            <a:stCxn id="165" idx="0"/>
            <a:endCxn id="203" idx="2"/>
          </p:cNvCxnSpPr>
          <p:nvPr/>
        </p:nvCxnSpPr>
        <p:spPr>
          <a:xfrm rot="16200000" flipV="1">
            <a:off x="6049375" y="5751986"/>
            <a:ext cx="414373" cy="3525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3A003C1-E858-41CF-8F5D-E3DC2EBA6742}"/>
              </a:ext>
            </a:extLst>
          </p:cNvPr>
          <p:cNvCxnSpPr>
            <a:cxnSpLocks/>
            <a:stCxn id="203" idx="0"/>
            <a:endCxn id="70" idx="2"/>
          </p:cNvCxnSpPr>
          <p:nvPr/>
        </p:nvCxnSpPr>
        <p:spPr>
          <a:xfrm rot="5400000" flipH="1" flipV="1">
            <a:off x="5964359" y="5069658"/>
            <a:ext cx="304827" cy="729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711AD193-CAD8-452D-905D-03C583538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792" y="3585101"/>
            <a:ext cx="483552" cy="462517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E8235C9-E9FF-48FD-B018-12757C9B9FF0}"/>
              </a:ext>
            </a:extLst>
          </p:cNvPr>
          <p:cNvCxnSpPr>
            <a:cxnSpLocks/>
            <a:endCxn id="204" idx="2"/>
          </p:cNvCxnSpPr>
          <p:nvPr/>
        </p:nvCxnSpPr>
        <p:spPr>
          <a:xfrm rot="16200000" flipV="1">
            <a:off x="4097569" y="2586617"/>
            <a:ext cx="252962" cy="31749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BDA9CE8-B899-4229-B12A-2BAA177B0E4C}"/>
              </a:ext>
            </a:extLst>
          </p:cNvPr>
          <p:cNvCxnSpPr>
            <a:cxnSpLocks/>
            <a:stCxn id="204" idx="0"/>
            <a:endCxn id="64" idx="2"/>
          </p:cNvCxnSpPr>
          <p:nvPr/>
        </p:nvCxnSpPr>
        <p:spPr>
          <a:xfrm rot="5400000" flipH="1" flipV="1">
            <a:off x="3173117" y="2776404"/>
            <a:ext cx="272149" cy="13452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3E9054B3-FF11-4AAF-BFB6-6767FB949198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rot="16200000" flipV="1">
            <a:off x="6864371" y="1014883"/>
            <a:ext cx="889570" cy="3093967"/>
          </a:xfrm>
          <a:prstGeom prst="bentConnector3">
            <a:avLst>
              <a:gd name="adj1" fmla="val 549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471CAE7-184F-4F0E-A3DB-2522FFED02A0}"/>
              </a:ext>
            </a:extLst>
          </p:cNvPr>
          <p:cNvSpPr/>
          <p:nvPr/>
        </p:nvSpPr>
        <p:spPr>
          <a:xfrm>
            <a:off x="6351827" y="844025"/>
            <a:ext cx="15279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</a:rPr>
              <a:t>REPORTS &amp; DASHBOARDS</a:t>
            </a:r>
            <a:endParaRPr lang="en-US" sz="8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A24A752-4983-418D-AC1A-028A812F01A0}"/>
              </a:ext>
            </a:extLst>
          </p:cNvPr>
          <p:cNvSpPr txBox="1"/>
          <p:nvPr/>
        </p:nvSpPr>
        <p:spPr>
          <a:xfrm>
            <a:off x="1173124" y="5869453"/>
            <a:ext cx="916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ON-PREMISE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BCD4A8-7B37-4339-A2F9-117966F6DBD8}"/>
              </a:ext>
            </a:extLst>
          </p:cNvPr>
          <p:cNvGrpSpPr/>
          <p:nvPr/>
        </p:nvGrpSpPr>
        <p:grpSpPr>
          <a:xfrm>
            <a:off x="6725263" y="1080450"/>
            <a:ext cx="1026469" cy="618623"/>
            <a:chOff x="6483813" y="1351670"/>
            <a:chExt cx="1026469" cy="618623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55C22489-5269-4B72-8D52-F9F33A559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69221" y="1425230"/>
              <a:ext cx="519035" cy="372554"/>
            </a:xfrm>
            <a:prstGeom prst="rect">
              <a:avLst/>
            </a:prstGeom>
          </p:spPr>
        </p:pic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08E8CD8-5174-4DCA-AC3B-9CF3FA589BCC}"/>
                </a:ext>
              </a:extLst>
            </p:cNvPr>
            <p:cNvSpPr/>
            <p:nvPr/>
          </p:nvSpPr>
          <p:spPr>
            <a:xfrm>
              <a:off x="6483813" y="1351670"/>
              <a:ext cx="781112" cy="56134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0E4785-E0E0-4F22-B759-1EEE6B770426}"/>
                </a:ext>
              </a:extLst>
            </p:cNvPr>
            <p:cNvSpPr txBox="1"/>
            <p:nvPr/>
          </p:nvSpPr>
          <p:spPr>
            <a:xfrm>
              <a:off x="6483813" y="1685271"/>
              <a:ext cx="1026469" cy="285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Power BI</a:t>
              </a:r>
            </a:p>
          </p:txBody>
        </p:sp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703E9DF-3CF3-492C-8A83-A1001FAE8DCE}"/>
              </a:ext>
            </a:extLst>
          </p:cNvPr>
          <p:cNvCxnSpPr>
            <a:cxnSpLocks/>
            <a:stCxn id="193" idx="0"/>
            <a:endCxn id="54" idx="1"/>
          </p:cNvCxnSpPr>
          <p:nvPr/>
        </p:nvCxnSpPr>
        <p:spPr>
          <a:xfrm rot="5400000" flipH="1" flipV="1">
            <a:off x="6167393" y="955902"/>
            <a:ext cx="152648" cy="9630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CDCB1A6-7567-443D-9D13-974F3F5D202D}"/>
              </a:ext>
            </a:extLst>
          </p:cNvPr>
          <p:cNvSpPr/>
          <p:nvPr/>
        </p:nvSpPr>
        <p:spPr>
          <a:xfrm>
            <a:off x="5216083" y="4333973"/>
            <a:ext cx="1874356" cy="61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A8FDF49-5389-436A-8824-E4B9C9BB04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3602" y="4391252"/>
            <a:ext cx="421745" cy="505201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288AEDD-9AC9-4E8F-B4ED-D416642AE1A0}"/>
              </a:ext>
            </a:extLst>
          </p:cNvPr>
          <p:cNvSpPr/>
          <p:nvPr/>
        </p:nvSpPr>
        <p:spPr>
          <a:xfrm>
            <a:off x="7823212" y="3811119"/>
            <a:ext cx="1427782" cy="6223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9784DB0-9BEE-4A0A-B3E2-F432266AD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126" y="3859747"/>
            <a:ext cx="434787" cy="39073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B969987-A136-4BC4-89B5-8BB22BEDA369}"/>
              </a:ext>
            </a:extLst>
          </p:cNvPr>
          <p:cNvSpPr txBox="1"/>
          <p:nvPr/>
        </p:nvSpPr>
        <p:spPr>
          <a:xfrm>
            <a:off x="7815679" y="4216297"/>
            <a:ext cx="1389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Data Bricks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72EAEE-BF66-4B46-9727-5F4C0623E9E0}"/>
              </a:ext>
            </a:extLst>
          </p:cNvPr>
          <p:cNvSpPr txBox="1"/>
          <p:nvPr/>
        </p:nvSpPr>
        <p:spPr>
          <a:xfrm>
            <a:off x="9161480" y="3922966"/>
            <a:ext cx="142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TECHNICAL DATA VALIDATION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76E3157-63CA-4BCC-9E16-49EFB9A41274}"/>
              </a:ext>
            </a:extLst>
          </p:cNvPr>
          <p:cNvSpPr/>
          <p:nvPr/>
        </p:nvSpPr>
        <p:spPr>
          <a:xfrm>
            <a:off x="5304993" y="3006785"/>
            <a:ext cx="1827753" cy="61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60CCE10-5B15-44E2-8564-E73B455171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6924" y="3064064"/>
            <a:ext cx="421745" cy="505201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1EB467C6-7C49-4823-B102-38581980CC4E}"/>
              </a:ext>
            </a:extLst>
          </p:cNvPr>
          <p:cNvSpPr txBox="1"/>
          <p:nvPr/>
        </p:nvSpPr>
        <p:spPr>
          <a:xfrm>
            <a:off x="5791372" y="3136432"/>
            <a:ext cx="140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Product Data Stores (NRM, PULSE, USLP)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2654E14-A6E9-4D9A-A643-771415A95F90}"/>
              </a:ext>
            </a:extLst>
          </p:cNvPr>
          <p:cNvSpPr/>
          <p:nvPr/>
        </p:nvSpPr>
        <p:spPr>
          <a:xfrm>
            <a:off x="1806840" y="2678689"/>
            <a:ext cx="839353" cy="6223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5DE6E51-EF3C-4AB4-8BA7-F6544834A0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1494" y="2727317"/>
            <a:ext cx="434787" cy="390734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D82EC91-924B-498D-A00B-2BBC9BAEF952}"/>
              </a:ext>
            </a:extLst>
          </p:cNvPr>
          <p:cNvSpPr txBox="1"/>
          <p:nvPr/>
        </p:nvSpPr>
        <p:spPr>
          <a:xfrm>
            <a:off x="1559515" y="3066025"/>
            <a:ext cx="1389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Data Bricks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A14D4A0-C3D1-4FFC-B405-34F038E92002}"/>
              </a:ext>
            </a:extLst>
          </p:cNvPr>
          <p:cNvCxnSpPr/>
          <p:nvPr/>
        </p:nvCxnSpPr>
        <p:spPr>
          <a:xfrm>
            <a:off x="2636568" y="3009724"/>
            <a:ext cx="4221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1981616-BC69-4936-A337-9530DF3D6A84}"/>
              </a:ext>
            </a:extLst>
          </p:cNvPr>
          <p:cNvSpPr txBox="1"/>
          <p:nvPr/>
        </p:nvSpPr>
        <p:spPr>
          <a:xfrm>
            <a:off x="1462180" y="2334329"/>
            <a:ext cx="1583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dirty="0"/>
              <a:t>BUSINESS RULES &amp; TRANSFORMATION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33DA453-1993-4861-A2FD-BE466B63F2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826" y="3086134"/>
            <a:ext cx="483552" cy="46251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F30C80-56ED-40B1-BE1C-9387D3CB3DBE}"/>
              </a:ext>
            </a:extLst>
          </p:cNvPr>
          <p:cNvCxnSpPr>
            <a:cxnSpLocks/>
            <a:stCxn id="82" idx="3"/>
            <a:endCxn id="101" idx="1"/>
          </p:cNvCxnSpPr>
          <p:nvPr/>
        </p:nvCxnSpPr>
        <p:spPr>
          <a:xfrm>
            <a:off x="7132746" y="3316665"/>
            <a:ext cx="322080" cy="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890187-D1C9-409A-BB95-A44D2824D238}"/>
              </a:ext>
            </a:extLst>
          </p:cNvPr>
          <p:cNvCxnSpPr>
            <a:stCxn id="101" idx="3"/>
            <a:endCxn id="191" idx="1"/>
          </p:cNvCxnSpPr>
          <p:nvPr/>
        </p:nvCxnSpPr>
        <p:spPr>
          <a:xfrm flipV="1">
            <a:off x="7938378" y="3314792"/>
            <a:ext cx="474724" cy="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781D2F9-86DB-439E-A64D-0A796FEFBCF0}"/>
              </a:ext>
            </a:extLst>
          </p:cNvPr>
          <p:cNvSpPr txBox="1"/>
          <p:nvPr/>
        </p:nvSpPr>
        <p:spPr>
          <a:xfrm>
            <a:off x="8778173" y="1687870"/>
            <a:ext cx="6152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</a:defRPr>
            </a:lvl1pPr>
          </a:lstStyle>
          <a:p>
            <a:r>
              <a:rPr lang="en-US" dirty="0"/>
              <a:t>ROLAP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34E68BC-1974-4DCA-95D5-F137B3D39AC4}"/>
              </a:ext>
            </a:extLst>
          </p:cNvPr>
          <p:cNvGrpSpPr/>
          <p:nvPr/>
        </p:nvGrpSpPr>
        <p:grpSpPr>
          <a:xfrm>
            <a:off x="8027443" y="1488629"/>
            <a:ext cx="836675" cy="572418"/>
            <a:chOff x="4497935" y="237334"/>
            <a:chExt cx="1146134" cy="921699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BEACC71-A80E-4CD5-8C59-E19F5167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34513" y="436488"/>
              <a:ext cx="837315" cy="576667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D8AAF6AF-77E2-47B6-BE61-B3226116D688}"/>
                </a:ext>
              </a:extLst>
            </p:cNvPr>
            <p:cNvSpPr/>
            <p:nvPr/>
          </p:nvSpPr>
          <p:spPr>
            <a:xfrm>
              <a:off x="4497935" y="237334"/>
              <a:ext cx="1018084" cy="9216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5852C2-8F20-408A-83BA-1A02443901B5}"/>
                </a:ext>
              </a:extLst>
            </p:cNvPr>
            <p:cNvSpPr txBox="1"/>
            <p:nvPr/>
          </p:nvSpPr>
          <p:spPr>
            <a:xfrm>
              <a:off x="4953171" y="733128"/>
              <a:ext cx="690898" cy="421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AAS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6A6D61D-8B89-48C1-951A-064D10EFC5A4}"/>
              </a:ext>
            </a:extLst>
          </p:cNvPr>
          <p:cNvCxnSpPr>
            <a:cxnSpLocks/>
            <a:stCxn id="191" idx="0"/>
            <a:endCxn id="62" idx="2"/>
          </p:cNvCxnSpPr>
          <p:nvPr/>
        </p:nvCxnSpPr>
        <p:spPr>
          <a:xfrm rot="16200000" flipV="1">
            <a:off x="8154789" y="2305302"/>
            <a:ext cx="945605" cy="4570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57D994A-36DE-49B2-AAA0-D9D9B00F06DB}"/>
              </a:ext>
            </a:extLst>
          </p:cNvPr>
          <p:cNvCxnSpPr>
            <a:stCxn id="62" idx="0"/>
          </p:cNvCxnSpPr>
          <p:nvPr/>
        </p:nvCxnSpPr>
        <p:spPr>
          <a:xfrm rot="16200000" flipV="1">
            <a:off x="7878538" y="968124"/>
            <a:ext cx="148342" cy="8926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73">
            <a:extLst>
              <a:ext uri="{FF2B5EF4-FFF2-40B4-BE49-F238E27FC236}">
                <a16:creationId xmlns:a16="http://schemas.microsoft.com/office/drawing/2014/main" id="{ABD1E65C-576F-4220-9133-FF8AFE6A60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7990" y="4600975"/>
            <a:ext cx="684550" cy="50520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BF50E42C-06BF-450E-ACD9-15AD29F4489C}"/>
              </a:ext>
            </a:extLst>
          </p:cNvPr>
          <p:cNvSpPr txBox="1"/>
          <p:nvPr/>
        </p:nvSpPr>
        <p:spPr>
          <a:xfrm>
            <a:off x="8770642" y="4646263"/>
            <a:ext cx="1427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en-US" sz="800" dirty="0"/>
              <a:t>WEB TOOL – FOR MANUAL DATASETS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152B1F8-3EAE-4206-8AF7-7C4A84D843C8}"/>
              </a:ext>
            </a:extLst>
          </p:cNvPr>
          <p:cNvCxnSpPr>
            <a:stCxn id="70" idx="0"/>
            <a:endCxn id="75" idx="1"/>
          </p:cNvCxnSpPr>
          <p:nvPr/>
        </p:nvCxnSpPr>
        <p:spPr>
          <a:xfrm rot="5400000" flipH="1" flipV="1">
            <a:off x="6882396" y="3393158"/>
            <a:ext cx="211681" cy="166995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5DD3765-908C-41C2-B074-BCB35DD5BDCA}"/>
              </a:ext>
            </a:extLst>
          </p:cNvPr>
          <p:cNvCxnSpPr>
            <a:cxnSpLocks/>
            <a:stCxn id="74" idx="1"/>
            <a:endCxn id="70" idx="3"/>
          </p:cNvCxnSpPr>
          <p:nvPr/>
        </p:nvCxnSpPr>
        <p:spPr>
          <a:xfrm rot="10800000">
            <a:off x="7090440" y="4643854"/>
            <a:ext cx="1077551" cy="209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DFBA0DF-8163-4447-A81F-EF16FBF24783}"/>
              </a:ext>
            </a:extLst>
          </p:cNvPr>
          <p:cNvSpPr txBox="1"/>
          <p:nvPr/>
        </p:nvSpPr>
        <p:spPr>
          <a:xfrm>
            <a:off x="5735347" y="4509595"/>
            <a:ext cx="13550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Universal Data Lake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18F0596-71CF-43F7-BE13-AD74718BF623}"/>
              </a:ext>
            </a:extLst>
          </p:cNvPr>
          <p:cNvSpPr/>
          <p:nvPr/>
        </p:nvSpPr>
        <p:spPr>
          <a:xfrm>
            <a:off x="3067938" y="2693192"/>
            <a:ext cx="1827753" cy="6197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977371B-4748-46C9-8B24-EACE84C4B6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9869" y="2750471"/>
            <a:ext cx="421745" cy="50520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14D16F7-065C-40A0-B83A-2D3F9EB4FA9C}"/>
              </a:ext>
            </a:extLst>
          </p:cNvPr>
          <p:cNvSpPr txBox="1"/>
          <p:nvPr/>
        </p:nvSpPr>
        <p:spPr>
          <a:xfrm>
            <a:off x="3553147" y="2798978"/>
            <a:ext cx="141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Business Data Lakes (Finance, Mktg, SC)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D73E5D9-9C73-4E8A-B6D0-5C007691F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7622" y="2375170"/>
            <a:ext cx="483552" cy="462517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ED48ECE-53C9-4846-80B4-D23BF6B73631}"/>
              </a:ext>
            </a:extLst>
          </p:cNvPr>
          <p:cNvCxnSpPr>
            <a:stCxn id="64" idx="0"/>
            <a:endCxn id="73" idx="1"/>
          </p:cNvCxnSpPr>
          <p:nvPr/>
        </p:nvCxnSpPr>
        <p:spPr>
          <a:xfrm rot="5400000" flipH="1" flipV="1">
            <a:off x="4441337" y="2146908"/>
            <a:ext cx="86763" cy="10058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4EF08FC-A4B0-4D28-AC7C-7A78D0847FD1}"/>
              </a:ext>
            </a:extLst>
          </p:cNvPr>
          <p:cNvCxnSpPr>
            <a:stCxn id="73" idx="3"/>
            <a:endCxn id="82" idx="0"/>
          </p:cNvCxnSpPr>
          <p:nvPr/>
        </p:nvCxnSpPr>
        <p:spPr>
          <a:xfrm>
            <a:off x="5471174" y="2606429"/>
            <a:ext cx="747696" cy="4003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0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Dutta, Shuvadeep</dc:creator>
  <cp:lastModifiedBy>Desai, Bhimappa</cp:lastModifiedBy>
  <cp:revision>1</cp:revision>
  <dcterms:created xsi:type="dcterms:W3CDTF">2018-08-21T13:22:11Z</dcterms:created>
  <dcterms:modified xsi:type="dcterms:W3CDTF">2019-07-01T06:18:46Z</dcterms:modified>
</cp:coreProperties>
</file>