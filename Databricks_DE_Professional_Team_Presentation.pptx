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 Correct</c:v>
                </c:pt>
              </c:strCache>
            </c:strRef>
          </c:tx>
          <c:spPr>
            <a:solidFill>
              <a:srgbClr val="1C7293"/>
            </a:solidFill>
            <a:effectLst/>
          </c:spPr>
          <c:invertIfNegative val="0"/>
          <c:dLbls>
            <c:numFmt formatCode="#,##0" sourceLinked="0"/>
            <c:spPr>
              <a:noFill/>
              <a:ln>
                <a:noFill/>
              </a:ln>
              <a:effectLst/>
            </c:spPr>
            <c:txPr>
              <a:bodyPr/>
              <a:lstStyle/>
              <a:p>
                <a:pPr>
                  <a:defRPr sz="10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S1 Python &amp; SQL Coding</c:v>
                </c:pt>
                <c:pt idx="1">
                  <c:v>S2 Data Ingestion</c:v>
                </c:pt>
                <c:pt idx="2">
                  <c:v>S3 Transformation &amp; Quality</c:v>
                </c:pt>
                <c:pt idx="3">
                  <c:v>S4 Sharing &amp; Federation</c:v>
                </c:pt>
                <c:pt idx="4">
                  <c:v>S5 Monitoring &amp; Alerting</c:v>
                </c:pt>
                <c:pt idx="5">
                  <c:v>S6 Cost &amp; Performance</c:v>
                </c:pt>
                <c:pt idx="6">
                  <c:v>S7 Security &amp; Compliance</c:v>
                </c:pt>
                <c:pt idx="7">
                  <c:v>S8 Data Governance</c:v>
                </c:pt>
                <c:pt idx="8">
                  <c:v>S9 Debugging &amp; Deploying</c:v>
                </c:pt>
                <c:pt idx="9">
                  <c:v>S10 Data Modelling</c:v>
                </c:pt>
              </c:strCache>
            </c:strRef>
          </c:cat>
          <c:val>
            <c:numRef>
              <c:f>Sheet1!$B$2:$B$11</c:f>
              <c:numCache>
                <c:formatCode>General</c:formatCode>
                <c:ptCount val="10"/>
                <c:pt idx="0">
                  <c:v>69</c:v>
                </c:pt>
                <c:pt idx="1">
                  <c:v>100</c:v>
                </c:pt>
                <c:pt idx="2">
                  <c:v>66</c:v>
                </c:pt>
                <c:pt idx="3">
                  <c:v>100</c:v>
                </c:pt>
                <c:pt idx="4">
                  <c:v>80</c:v>
                </c:pt>
                <c:pt idx="5">
                  <c:v>87</c:v>
                </c:pt>
                <c:pt idx="6">
                  <c:v>100</c:v>
                </c:pt>
                <c:pt idx="7">
                  <c:v>50</c:v>
                </c:pt>
                <c:pt idx="8">
                  <c:v>100</c:v>
                </c:pt>
                <c:pt idx="9">
                  <c:v>100</c:v>
                </c:pt>
              </c:numCache>
            </c:numRef>
          </c:val>
          <c:extLst>
            <c:ext xmlns:c16="http://schemas.microsoft.com/office/drawing/2014/chart" uri="{C3380CC4-5D6E-409C-BE32-E72D297353CC}">
              <c16:uniqueId val="{00000000-4618-4284-B649-CFE270C25A8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max val="110"/>
        </c:scaling>
        <c:delete val="0"/>
        <c:axPos val="b"/>
        <c:majorGridlines>
          <c:spPr>
            <a:ln w="12700" cap="flat">
              <a:solidFill>
                <a:srgbClr val="DCE4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534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AGENDA (suggested time: ~1.5 minutes)
Open by telling the team what they'll walk away with today. Say something like:
"I recently cleared the Databricks Certified Data Engineer Professional exam, and rather than just share the certificate, I want to walk you through exactly how I prepared, what topics carried the most weight, and a few things I wish I'd known going in — especially around the exam environment, which caught me off guard the first time."
Quickly preview the 6 sections on screen so the team knows the shape of the talk:
1. Why this cert matters for us as a team working on Azure/Snowflake pipelines
2. How I structured my prep over about 5 weeks
3. The 7 topic areas that carry the most weight in the exam
4. What the actual exam experience is like — question style, timing
5. A candid story about the proctoring process, since it's stricter than other certs
6. Concrete tips and free resources so anyone else here can prepare efficiently
Mention that you'll pause for questions at the end, but people are welcome to ask along the way if something's unclear.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WHY THIS MATTERS (suggested time: ~2 minutes)
Frame why you're spending the team's time on this. Key talking points:
1. Set the level: "This is the Professional tier — the highest in Databricks' Data Engineer certification track, above the Associate exam. It doesn't test whether you know Spark exists; it tests whether you can make the right architectural call in a production scenario."
2. Connect it to our actual work: "Even though our day-to-day is heavily Azure Data Factory and Snowflake, a lot of the concepts transfer directly — medallion architecture (bronze/silver/gold) is something we already practice conceptually in our Snowflake pipelines, CDC and SCD patterns are identical in spirit, and orchestration/monitoring concepts map to ADF equivalents."
3. Explain your personal motivation — briefly, one line: why you chose to pursue it (e.g., broadening the team's platform coverage, personal growth, potential upcoming Databricks work).
4. Close this slide with: "So this isn't just a personal certificate — the concepts are portable, and I think a few of us could benefit from at least understanding them even if we don't sit the exam ourselves."
Keep this slide brief — it's context-setting, not the meat of the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RESULT SNAPSHOT (suggested time: ~2.5 minutes)
Walk through your actual scorecard — this builds credibility and sets up the "what to focus on" narrative for later slides.
Talking points:
- "I passed with 71 of the 120 minutes used, across 10 scored sections."
- Point to the strong sections first: "Data Ingestion, Data Sharing &amp; Federation, Security &amp; Compliance, Debugging &amp; Deploying, and Data Modelling — all 100%. These are areas where hands-on practice paid off directly."
- Then be candid about the weaker ones: "My weakest area was Data Governance at 50%, followed by Data Transformation/Cleansing/Quality at 66%, and Python &amp; SQL coding at 69%."
- Explain WHY these were weaker: "Governance is a newer, less-documented area compared to core Spark/Delta topics — a lot of prep material glosses over it. Transformation and coding sections have very specific syntax questions, and if you haven't run the exact code yourself, it's easy to second-guess yourself under time pressure."
- Bridge to next slides: "So as I walk through the topics, I'll flag which ones deserve extra attention based on where I personally lost points — that's the practical value of sharing this."
This is a good moment to pause and ask if anyone has questions about the scoring format itself before moving into topics.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PREP TIMELINE (suggested time: ~3 minutes)
This is a practical, "here's exactly what I did" slide — spend real time here since it's the most actionable part for anyone planning to attempt the exam.
Walk through each of the six steps in order:
1. Exam Guide First — "Before touching any course, I read the official exam guide PDF. It lists the 10 scored domains and roughly how much each is weighted. This stopped me from spending equal time everywhere — I front-loaded effort into Delta Lake, streaming, and DLT because those dominate the question count."
2. Structured Course — Mention which course you used (Derar Alhussein's Udemy course) and why a structured course helps: it's mapped section-by-section to the exam guide, with working notebooks.
3. Hands-On Rebuild — Emphasize this is the single biggest factor: "I did not just watch the demos — I opened a Databricks trial workspace and rebuilt every single pipeline myself. Concepts like the Delta transaction log or Change Data Feed only really click once you've run MERGE and looked at the actual JSON commit files yourself."
4. Docs as Source of Truth — "Whenever a video was vague, I went straight to Databricks' official documentation. The exam questions are often phrased very close to how the docs describe behavior, so this wasn't just background reading — it was targeted exam prep."
5. Timed Practice Tests — "I took 2-3 full mock exams under actual timed conditions, then went through every single wrong answer and looked up why the correct option was right, not just accepted it."
6. Final Revision — "In the last few days, instead of re-watching hours of video, I built a single-page cheat sheet per domain — commands, syntax differences, key parameter names. That's what I skimmed the morning of the exam."
Total duration: "All of this was about 4-5 weeks, at roughly 1 to 1.5 hours a day alongside regular work — so it's realistic to do this without taking time off."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TOPIC MAP OVERVIEW (suggested time: ~1.5 minutes)
This is a signposting slide before you go deep on each area — don't over-explain, just orient the team.
Say: "These are the seven areas I'll walk through in more detail over the next several slides. They roughly map to the exam's own domain structure, though I've grouped a couple of the smaller official sections together for time. For each one, I'll cover what's actually tested, and call out anything that tripped me up."
Quickly read the seven names aloud so people can anchor: Delta Lake Internals, Structured Streaming &amp; Auto Loader, Medallion Architecture &amp; Data Modelling, Lakeflow/DLT Pipelines, Orchestration &amp; Debugging, Security/Governance/Sharing, and Performance &amp; Cost Optimisation.
Optional: mention that Delta Lake Internals and Streaming are the two heaviest-weighted areas in the actual exam guide, so those two get the most airtime.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DELTA LAKE INTERNALS (suggested time: ~3 minutes)
This is the most important topic slide — spend real time here.
Talking points:
- Start with the transaction log: "Every Delta table has a hidden _delta_log folder with JSON commit files and periodic checkpoints. Understanding this is what lets you answer questions about ACID guarantees and Optimistic Concurrency Control — essentially, how Delta handles two writers touching the same table at once."
- MERGE/OPTIMIZE/ZORDER/VACUUM: "The exam expects exact syntax knowledge, not just 'I've heard of these.' You need to know when OPTIMIZE with Z-ORDER actually helps versus when it doesn't, and what VACUUM's default retention period does to your ability to time-travel."
- Change Data Feed: "This is Databricks' built-in mechanism for capturing row-level changes — inserts, updates, deletes — and it comes up repeatedly in CDC-style scenario questions."
- Schema evolution: mention mergeSchema, generated columns, and deletion vectors briefly — say these are newer features worth knowing exist even if you don't master every detail.
- Time travel: "You should know how to query a table AS OF a version or timestamp, and how VACUUM's retention window interacts with that."
Close with the callout: "This is the foundation everything else sits on — if you're going to over-invest anywhere, invest here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STRUCTURED STREAMING &amp; AUTO LOADER (suggested time: ~2.5 minutes)
Talking points:
- Triggers: "The exam tests the exact difference between trigger types. 'once' processes everything available in a single micro-batch and stops. 'availableNow' does something subtly different — it can use multiple micro-batches to process what's currently available, then stops, which is better for large backlogs. 'continuous' is a low-latency, experimental mode. Getting these confused is an easy way to lose marks."
- Watermarking: "This is how Structured Streaming handles late-arriving data in windowed aggregations — you define how late is 'too late' to still be counted. Expect at least one scenario question describing late data and asking you to pick the right watermark configuration."
- Auto Loader: "This is Databricks' recommended way to incrementally ingest files from cloud storage. Know the two modes — directory listing versus file notification — and when you'd choose one over the other, typically based on file volume and latency needs. Also know that schema inference and evolution are configurable, not automatic-only."
- Streaming joins: mention stream-static joins are common in practice (e.g., joining a stream against a dimension table) and are tested.
Close with your personal callout about trigger types being deceptively tricky — this is a good moment to invite a quick question if anyone's unfamiliar with streaming concepts generally.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DATA MODELLING &amp; DLT (suggested time: ~3 minutes)
Two related topics on one slide — take them in order.
Medallion Architecture &amp; Modelling (left):
- "Bronze/Silver/Gold is the backbone design pattern — Bronze is raw, as-is data; Silver is cleaned and conformed; Gold is business-level aggregates. The exam tests whether you know WHY something belongs in a given layer, not just the names."
- SCD: "You need to know how to implement Slowly Changing Dimension Type 1 (overwrite) and Type 2 (track history with effective/end dates) using MERGE statements — expect actual code-reading questions here."
- Singleplex vs multiplex: "This is about how you land raw streaming data — one table per topic (singleplex) versus one shared table for multiple topics (multiplex), each with tradeoffs for schema flexibility versus query simplicity."
Lakeflow / DLT (right):
- "This is Databricks' declarative pipeline framework — formerly called Delta Live Tables. Instead of writing manual orchestration code, you declare your tables and Databricks figures out the execution order automatically based on dependencies."
- Expectations: "expect just logs a warning, expect_or_drop silently removes bad rows, and expect_or_fail stops the whole pipeline. Exam questions often describe a data quality requirement and ask which of these three is correct — know the difference cold."
- Pipeline modes: mention triggered (batch-like, runs once) vs continuous (always running), and that there's a separate development mode for faster iteration during pipeline building.
Tie both halves together: "These two topics work together in practice — you'll often see DLT used to actually build out a medallion architecture pipeline."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ORCHESTRATION, DEPLOYMENT &amp; DEBUGGING (suggested time: ~2.5 minutes)
Talking points:
- Workflows/Jobs: "Know how to chain tasks with dependencies, configure retry policies, and understand the cost/performance tradeoff between job clusters (spun up per run, cheaper) and all-purpose clusters (persistent, for interactive work)."
- CLI/REST API/dbutils: "You don't need to memorize every API call, but you should recognize dbutils.fs, dbutils.secrets, and know that the CLI/REST API are how you'd automate job creation and deployment outside the UI."
- Databricks Asset Bundles: "This is Databricks' newer CI/CD framework — think of it like infrastructure-as-code for jobs and pipelines. If you've used Terraform or similar for our Azure work, the concept will feel familiar."
- Debugging: "A chunk of questions here are scenario-based — they'll show a symptom (a job running very slowly, or failing with an OOM error) and ask you to diagnose the cause. Common culprits tested: data skew causing one task to run far longer than others, and shuffle-heavy operations without adequate partitioning."
Close with the practical tip: hands-on job configuration experience matters more here than in almost any other section.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SECURITY, GOVERNANCE &amp; SHARING (suggested time: ~3 minutes)
This deserves extra time because it was your weakest scored area — be candid about that, it's genuinely useful to the team.
Talking points:
- Unity Catalog hierarchy: "The object model is metastore, then catalog, then schema, then table or view — and privileges granted at a higher level cascade down. Know the GRANT syntax and how privilege inheritance works."
- Row/column-level security: "Dynamic views let you write conditional logic into a view definition based on the querying user's identity or group. Row filters and column masks are newer, more declarative ways to achieve similar row- and column-level restriction without hand-writing view logic."
- Delta Sharing: "There are two flavors — Databricks-to-Databricks sharing, which is simpler if both sides are on Databricks, and the open Delta Sharing protocol, which lets non-Databricks consumers read shared data too. Lakehouse Federation is different — it lets you query external systems like Snowflake or a relational database directly from Databricks without copying the data first, which is directly relevant to a lot of what we do."
- Governance fundamentals: mention lineage (automatically tracked in Unity Catalog, shows upstream/downstream table relationships) and audit logs (who accessed what, when).
Be honest here: "I scored 50% on this section — my lowest of the ten. Looking back, most of the training content I used spent far less time here than on, say, Delta Lake internals, so I went in under-prepared. My one clear recommendation to anyone attempting this exam: don't mirror my time allocation — give governance deliberate, dedicated study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PERFORMANCE &amp; COST OPTIMISATION (suggested time: ~2.5 minutes)
Talking points:
- Partitioning vs Z-order vs liquid clustering: "Partitioning physically separates data into folders by column value — great for coarse filtering but bad if you pick a high-cardinality column. Z-ordering co-locates related data within files for multi-column filtering. Liquid clustering is the newer Databricks feature that adapts clustering automatically without requiring a fixed partition scheme — know when each is appropriate."
- Cluster sizing/autoscaling/spot instances: "Expect questions on choosing cluster configurations for cost efficiency — for example, using spot instances for fault-tolerant batch jobs versus on-demand for time-critical streaming jobs. Photon is Databricks' native vectorized query engine that significantly speeds up SQL and DataFrame operations — know it exists and roughly what it accelerates."
- Caching and broadcast joins: "Broadcast joins are the standard fix for a skewed join between a large table and a much smaller one — know the syntax and the size threshold considerations."
Close by connecting back: "I scored 87% here, and I think that's directly because this topic leans so heavily on Delta Lake internals — once you understand file layout and the transaction log, performance tuning questions become much more intuitive. That's another argument for front-loading your Delta Lake study."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EXAM FORMAT (suggested time: ~2.5 minutes)
Give the team a realistic mental model of what sitting the exam actually feels like.
Talking points:
- "60 questions, 120 minutes — some candidates report a couple of unscored pilot questions mixed in, so don't panic if one feels oddly out of scope."
- "These are not definition-recall questions like 'what does ACID stand for.' They're scenario-based — a paragraph describing a business or technical situation, and you pick the correct Databricks feature or code fix."
- "Code reading is a big part of it. You'll be shown Python or SQL snippets and asked to identify what's wrong, what's missing, or which option correctly completes a MERGE statement, a streaming query, or a DLT pipeline definition."
- "Syntax precision matters — several questions hinge on knowing the exact parameter name for something like an Auto Loader option or a DLT expectation decorator, not just knowing the concept exists."
- "The hardest question style is 'which of these is most efficient/appropriate' — where two or three options are all technically valid Databricks features, and you need genuine depth to know which one actually fits the described scenario best."
- Personal note: "I finished in 71 of 120 minutes, which gave me time to flag and revisit a handful of the trickier scenario questions — I'd recommend the same strategy: don't get stuck, flag and move 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PROCTORING EXPERIENCE (suggested time: ~3 minutes — this usually gets the most engagement, let it breathe)
This is the most memorable, practically useful slide for anyone attempting the exam soon — tell it as a story.
Set-up: "I want to spend real time on this because it genuinely surprised me, and it's not something most prep guides mention. The proctoring for this exam is noticeably stricter than what I experienced with Azure or Snowflake certifications."
What the proctor checks:
- "Before the exam even starts, the online proctor has you do a full webcam pan of your room — desk, walls, surroundings. They're strict about a completely clean desk: no papers, no second monitor, no phone anywhere in view."
- "Once the exam is running, you're not supposed to look away from the screen for long stretches or move around much. If the system or proctor notices repeated movement or you leaving the camera frame, they can pause the exam and come back to re-verify you before letting you continue."
The story — deliver this personally, it lands well:
- "In my first attempt, partway through the exam, it got suspended. The proctoring software flagged a conflict with antivirus or security software running on my machine — something in the background was interfering with the lockdown browser or monitoring process. I had no choice but to request a new slot and reschedule."
- "Before my second attempt, I took it seriously — I fully formatted my machine, made sure no unnecessary antivirus or background software was running, and kept only what the exam required active. That attempt went completely smoothly, no interruptions, and I passed."
Close with the actionable takeaway: "So my strong recommendation to anyone booking this exam — use a clean, dedicated, or freshly reset system if you can, close every background application, disable non-essential antivirus tools, make sure your internet is stable, pick a quiet closed room with a plain desk, and avoid unnecessary movement once you start. It sounds excessive, but losing an attempt to something unrelated to your actual knowledge is a frustrating way to lose a slot."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TIPS TO PASS (suggested time: ~2.5 minutes)
This slide is a fast-paced recap — you've already explained most of these in depth, so treat this as a punchy summary rather than new information. Go through each quickly:
1. Build it, don't just watch it — reiterate hands-on practice is non-negotiable.
2. Prioritize by weightage — don't split time evenly across all 10 domains.
3. Read the official docs — exam phrasing mirrors documentation language.
4. Manage your time in-exam — flag and skip, don't get stuck on one scenario question.
5. Take 2+ timed mock exams — simulate real conditions, review every wrong answer.
6. Don't skip governance &amp; sharing — reference your own 50% score here as the cautionary example.
Close with a summary line: "If I had to boil this down to one sentence: study by weightage, practice hands-on, and don't underestimate governance."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RESOURCES (suggested time: ~1.5 minutes)
Quick, practical slide — point people to where they can start.
Talking points:
- "I've listed the resources that actually helped, not an exhaustive list. The full clickable links are in the written summary I shared separately."
- YouTube: mention there's a solid free walkthrough video covering exam structure and priorities — good for a first orientation before committing to a paid course.
- Derar Alhussein's course: "This was my main structured course — it's on Udemy, and importantly has a free companion GitHub repo with notebooks so you can follow along hands-on without paying for workspace compute unnecessarily."
- Official exam guide and docs: "If you only do one thing, do this — it's free, it's authoritative, and it's literally what the exam is written against."
- Official certification page: for registration and the latest policies, since Databricks does update the exam guide periodically.
Mention: "Happy to share my personal notes and cheat sheets directly with anyone who's planning to attempt this soon."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CLOSING / Q&amp;A (suggested time: ~2 minutes, then open floor)
Wrap up with concrete next steps rather than just "thanks":
1. "I plan to apply what I learned about Unity Catalog governance and Delta Sharing to our current Azure Databricks work wherever it's relevant — happy to loop in anyone interested."
2. "If the team finds this useful, I'm glad to run a deeper, more technical session on any single topic — Delta Lake internals, DLT, or streaming are the ones with the most substance to dig into."
3. "I'll share the written summary with full clickable resource links and my personal exam notes after this session, so you don't need to note anything down right now."
Close with: "That's everything I wanted to cover — happy to take questions, or if anyone's planning to attempt this exam themselves, I'm glad to talk through specifics one-on-one afterward."
TOTAL ESTIMATED TIME ACROSS ALL 17 SLIDES: approximately 27-32 minutes at the paces suggested above, leaving room for a natural Q&amp;A close to the 30-35 minute mark if discussion runs a little long — trim the topic deep-dive slides (7-12) slightly if you need to land closer to 20 minutes.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image" Target="../media/image13.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9692640" y="-1645920"/>
            <a:ext cx="5029200" cy="5029200"/>
          </a:xfrm>
          <a:prstGeom prst="ellipse">
            <a:avLst/>
          </a:prstGeom>
          <a:solidFill>
            <a:srgbClr val="1C7293">
              <a:alpha val="30000"/>
            </a:srgbClr>
          </a:solidFill>
          <a:ln/>
        </p:spPr>
      </p:sp>
      <p:sp>
        <p:nvSpPr>
          <p:cNvPr id="3" name="Shape 1"/>
          <p:cNvSpPr/>
          <p:nvPr/>
        </p:nvSpPr>
        <p:spPr>
          <a:xfrm>
            <a:off x="-1371600" y="4389120"/>
            <a:ext cx="3840480" cy="3840480"/>
          </a:xfrm>
          <a:prstGeom prst="ellipse">
            <a:avLst/>
          </a:prstGeom>
          <a:solidFill>
            <a:srgbClr val="F2A93B">
              <a:alpha val="20000"/>
            </a:srgbClr>
          </a:solidFill>
          <a:ln/>
        </p:spPr>
      </p:sp>
      <p:sp>
        <p:nvSpPr>
          <p:cNvPr id="4" name="Text 2"/>
          <p:cNvSpPr/>
          <p:nvPr/>
        </p:nvSpPr>
        <p:spPr>
          <a:xfrm>
            <a:off x="822960" y="1965960"/>
            <a:ext cx="7315200" cy="365760"/>
          </a:xfrm>
          <a:prstGeom prst="rect">
            <a:avLst/>
          </a:prstGeom>
          <a:noFill/>
          <a:ln/>
        </p:spPr>
        <p:txBody>
          <a:bodyPr wrap="square" rtlCol="0" anchor="ctr"/>
          <a:lstStyle/>
          <a:p>
            <a:pPr marL="0" indent="0">
              <a:buNone/>
            </a:pPr>
            <a:r>
              <a:rPr lang="en-US" sz="1400" b="1" kern="0" spc="300" dirty="0">
                <a:solidFill>
                  <a:srgbClr val="F2A93B"/>
                </a:solidFill>
                <a:latin typeface="Calibri" pitchFamily="34" charset="0"/>
                <a:ea typeface="Calibri" pitchFamily="34" charset="-122"/>
                <a:cs typeface="Calibri" pitchFamily="34" charset="-120"/>
              </a:rPr>
              <a:t>CERTIFICATION WALKTHROUGH</a:t>
            </a:r>
            <a:endParaRPr lang="en-US" sz="1400" dirty="0"/>
          </a:p>
        </p:txBody>
      </p:sp>
      <p:sp>
        <p:nvSpPr>
          <p:cNvPr id="5" name="Text 3"/>
          <p:cNvSpPr/>
          <p:nvPr/>
        </p:nvSpPr>
        <p:spPr>
          <a:xfrm>
            <a:off x="822960" y="2331720"/>
            <a:ext cx="10332720" cy="1737360"/>
          </a:xfrm>
          <a:prstGeom prst="rect">
            <a:avLst/>
          </a:prstGeom>
          <a:noFill/>
          <a:ln/>
        </p:spPr>
        <p:txBody>
          <a:bodyPr wrap="square"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Databricks Certified</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Data Engineer Professional</a:t>
            </a:r>
            <a:endParaRPr lang="en-US" sz="4000" dirty="0"/>
          </a:p>
        </p:txBody>
      </p:sp>
      <p:sp>
        <p:nvSpPr>
          <p:cNvPr id="6" name="Text 4"/>
          <p:cNvSpPr/>
          <p:nvPr/>
        </p:nvSpPr>
        <p:spPr>
          <a:xfrm>
            <a:off x="822960" y="4069080"/>
            <a:ext cx="9144000" cy="45720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How I prepared, what I studied, and what it takes to pass</a:t>
            </a:r>
            <a:endParaRPr lang="en-US" sz="1700" dirty="0"/>
          </a:p>
        </p:txBody>
      </p:sp>
      <p:sp>
        <p:nvSpPr>
          <p:cNvPr id="7" name="Shape 5"/>
          <p:cNvSpPr/>
          <p:nvPr/>
        </p:nvSpPr>
        <p:spPr>
          <a:xfrm>
            <a:off x="822960" y="4709160"/>
            <a:ext cx="2011680" cy="0"/>
          </a:xfrm>
          <a:prstGeom prst="line">
            <a:avLst/>
          </a:prstGeom>
          <a:noFill/>
          <a:ln w="25400">
            <a:solidFill>
              <a:srgbClr val="F2A93B"/>
            </a:solidFill>
            <a:prstDash val="solid"/>
          </a:ln>
        </p:spPr>
      </p:sp>
      <p:sp>
        <p:nvSpPr>
          <p:cNvPr id="8" name="Text 6"/>
          <p:cNvSpPr/>
          <p:nvPr/>
        </p:nvSpPr>
        <p:spPr>
          <a:xfrm>
            <a:off x="822960" y="4892040"/>
            <a:ext cx="731520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Presented by Vipinkumar Jha  |  Senior Data Engineer</a:t>
            </a:r>
            <a:endParaRPr lang="en-US" sz="1400" dirty="0"/>
          </a:p>
        </p:txBody>
      </p:sp>
      <p:sp>
        <p:nvSpPr>
          <p:cNvPr id="9" name="Text 7"/>
          <p:cNvSpPr/>
          <p:nvPr/>
        </p:nvSpPr>
        <p:spPr>
          <a:xfrm>
            <a:off x="822960" y="5257800"/>
            <a:ext cx="7315200" cy="365760"/>
          </a:xfrm>
          <a:prstGeom prst="rect">
            <a:avLst/>
          </a:prstGeom>
          <a:noFill/>
          <a:ln/>
        </p:spPr>
        <p:txBody>
          <a:bodyPr wrap="square" rtlCol="0" anchor="ctr"/>
          <a:lstStyle/>
          <a:p>
            <a:pPr marL="0" indent="0">
              <a:buNone/>
            </a:pPr>
            <a:r>
              <a:rPr lang="en-US" sz="1300" dirty="0">
                <a:solidFill>
                  <a:srgbClr val="9FB3C8"/>
                </a:solidFill>
                <a:latin typeface="Calibri" pitchFamily="34" charset="0"/>
                <a:ea typeface="Calibri" pitchFamily="34" charset="-122"/>
                <a:cs typeface="Calibri" pitchFamily="34" charset="-120"/>
              </a:rPr>
              <a:t>Result: PASS   •   Completed 19 July 2026   •   71 / 120 minutes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What We'll Cover Today</a:t>
            </a:r>
            <a:endParaRPr lang="en-US" sz="3000" dirty="0"/>
          </a:p>
        </p:txBody>
      </p:sp>
      <p:sp>
        <p:nvSpPr>
          <p:cNvPr id="4" name="Shape 2"/>
          <p:cNvSpPr/>
          <p:nvPr/>
        </p:nvSpPr>
        <p:spPr>
          <a:xfrm>
            <a:off x="548640" y="1600200"/>
            <a:ext cx="5394960" cy="1188720"/>
          </a:xfrm>
          <a:prstGeom prst="roundRect">
            <a:avLst>
              <a:gd name="adj" fmla="val 6154"/>
            </a:avLst>
          </a:prstGeom>
          <a:solidFill>
            <a:srgbClr val="FFFFFF"/>
          </a:solidFill>
          <a:ln w="12700">
            <a:solidFill>
              <a:srgbClr val="DCE4EA"/>
            </a:solidFill>
            <a:prstDash val="solid"/>
          </a:ln>
          <a:effectLst>
            <a:outerShdw blurRad="76200" dist="25400" dir="5400000" algn="bl" rotWithShape="0">
              <a:srgbClr val="000000">
                <a:alpha val="12000"/>
              </a:srgbClr>
            </a:outerShdw>
          </a:effectLst>
        </p:spPr>
      </p:sp>
      <p:sp>
        <p:nvSpPr>
          <p:cNvPr id="5" name="Shape 3"/>
          <p:cNvSpPr/>
          <p:nvPr/>
        </p:nvSpPr>
        <p:spPr>
          <a:xfrm>
            <a:off x="749808" y="1892808"/>
            <a:ext cx="603504" cy="603504"/>
          </a:xfrm>
          <a:prstGeom prst="ellipse">
            <a:avLst/>
          </a:prstGeom>
          <a:solidFill>
            <a:srgbClr val="1C7293"/>
          </a:solidFill>
          <a:ln/>
        </p:spPr>
      </p:sp>
      <p:pic>
        <p:nvPicPr>
          <p:cNvPr id="6" name="Image 0" descr="/home/claude/pptx_work/icons/target.png"/>
          <p:cNvPicPr>
            <a:picLocks noChangeAspect="1"/>
          </p:cNvPicPr>
          <p:nvPr/>
        </p:nvPicPr>
        <p:blipFill>
          <a:blip r:embed="rId3"/>
          <a:stretch>
            <a:fillRect/>
          </a:stretch>
        </p:blipFill>
        <p:spPr>
          <a:xfrm>
            <a:off x="828264" y="1971264"/>
            <a:ext cx="446593" cy="446593"/>
          </a:xfrm>
          <a:prstGeom prst="rect">
            <a:avLst/>
          </a:prstGeom>
        </p:spPr>
      </p:pic>
      <p:sp>
        <p:nvSpPr>
          <p:cNvPr id="7" name="Text 4"/>
          <p:cNvSpPr/>
          <p:nvPr/>
        </p:nvSpPr>
        <p:spPr>
          <a:xfrm>
            <a:off x="1554480" y="1764792"/>
            <a:ext cx="4206240" cy="365760"/>
          </a:xfrm>
          <a:prstGeom prst="rect">
            <a:avLst/>
          </a:prstGeom>
          <a:noFill/>
          <a:ln/>
        </p:spPr>
        <p:txBody>
          <a:bodyPr wrap="square" rtlCol="0" anchor="ctr"/>
          <a:lstStyle/>
          <a:p>
            <a:pPr marL="0" indent="0">
              <a:buNone/>
            </a:pPr>
            <a:r>
              <a:rPr lang="en-US" sz="1500" b="1" dirty="0">
                <a:solidFill>
                  <a:srgbClr val="0B3D5C"/>
                </a:solidFill>
                <a:latin typeface="Calibri" pitchFamily="34" charset="0"/>
                <a:ea typeface="Calibri" pitchFamily="34" charset="-122"/>
                <a:cs typeface="Calibri" pitchFamily="34" charset="-120"/>
              </a:rPr>
              <a:t>Why this certification matters</a:t>
            </a:r>
            <a:endParaRPr lang="en-US" sz="1500" dirty="0"/>
          </a:p>
        </p:txBody>
      </p:sp>
      <p:sp>
        <p:nvSpPr>
          <p:cNvPr id="8" name="Text 5"/>
          <p:cNvSpPr/>
          <p:nvPr/>
        </p:nvSpPr>
        <p:spPr>
          <a:xfrm>
            <a:off x="1554480" y="2130552"/>
            <a:ext cx="420624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Context and how it fits our Azure/Snowflake work</a:t>
            </a:r>
            <a:endParaRPr lang="en-US" sz="1150" dirty="0"/>
          </a:p>
        </p:txBody>
      </p:sp>
      <p:sp>
        <p:nvSpPr>
          <p:cNvPr id="9" name="Shape 6"/>
          <p:cNvSpPr/>
          <p:nvPr/>
        </p:nvSpPr>
        <p:spPr>
          <a:xfrm>
            <a:off x="6400800" y="1600200"/>
            <a:ext cx="5394960" cy="1188720"/>
          </a:xfrm>
          <a:prstGeom prst="roundRect">
            <a:avLst>
              <a:gd name="adj" fmla="val 6154"/>
            </a:avLst>
          </a:prstGeom>
          <a:solidFill>
            <a:srgbClr val="FFFFFF"/>
          </a:solidFill>
          <a:ln w="12700">
            <a:solidFill>
              <a:srgbClr val="DCE4EA"/>
            </a:solidFill>
            <a:prstDash val="solid"/>
          </a:ln>
          <a:effectLst>
            <a:outerShdw blurRad="76200" dist="25400" dir="5400000" algn="bl" rotWithShape="0">
              <a:srgbClr val="000000">
                <a:alpha val="12000"/>
              </a:srgbClr>
            </a:outerShdw>
          </a:effectLst>
        </p:spPr>
      </p:sp>
      <p:sp>
        <p:nvSpPr>
          <p:cNvPr id="10" name="Shape 7"/>
          <p:cNvSpPr/>
          <p:nvPr/>
        </p:nvSpPr>
        <p:spPr>
          <a:xfrm>
            <a:off x="6601968" y="1892808"/>
            <a:ext cx="603504" cy="603504"/>
          </a:xfrm>
          <a:prstGeom prst="ellipse">
            <a:avLst/>
          </a:prstGeom>
          <a:solidFill>
            <a:srgbClr val="1C7293"/>
          </a:solidFill>
          <a:ln/>
        </p:spPr>
      </p:sp>
      <p:pic>
        <p:nvPicPr>
          <p:cNvPr id="11" name="Image 1" descr="/home/claude/pptx_work/icons/clock.png"/>
          <p:cNvPicPr>
            <a:picLocks noChangeAspect="1"/>
          </p:cNvPicPr>
          <p:nvPr/>
        </p:nvPicPr>
        <p:blipFill>
          <a:blip r:embed="rId4"/>
          <a:stretch>
            <a:fillRect/>
          </a:stretch>
        </p:blipFill>
        <p:spPr>
          <a:xfrm>
            <a:off x="6680424" y="1971264"/>
            <a:ext cx="446593" cy="446593"/>
          </a:xfrm>
          <a:prstGeom prst="rect">
            <a:avLst/>
          </a:prstGeom>
        </p:spPr>
      </p:pic>
      <p:sp>
        <p:nvSpPr>
          <p:cNvPr id="12" name="Text 8"/>
          <p:cNvSpPr/>
          <p:nvPr/>
        </p:nvSpPr>
        <p:spPr>
          <a:xfrm>
            <a:off x="7406640" y="1764792"/>
            <a:ext cx="4206240" cy="365760"/>
          </a:xfrm>
          <a:prstGeom prst="rect">
            <a:avLst/>
          </a:prstGeom>
          <a:noFill/>
          <a:ln/>
        </p:spPr>
        <p:txBody>
          <a:bodyPr wrap="square" rtlCol="0" anchor="ctr"/>
          <a:lstStyle/>
          <a:p>
            <a:pPr marL="0" indent="0">
              <a:buNone/>
            </a:pPr>
            <a:r>
              <a:rPr lang="en-US" sz="1500" b="1" dirty="0">
                <a:solidFill>
                  <a:srgbClr val="0B3D5C"/>
                </a:solidFill>
                <a:latin typeface="Calibri" pitchFamily="34" charset="0"/>
                <a:ea typeface="Calibri" pitchFamily="34" charset="-122"/>
                <a:cs typeface="Calibri" pitchFamily="34" charset="-120"/>
              </a:rPr>
              <a:t>My prep approach &amp; timeline</a:t>
            </a:r>
            <a:endParaRPr lang="en-US" sz="1500" dirty="0"/>
          </a:p>
        </p:txBody>
      </p:sp>
      <p:sp>
        <p:nvSpPr>
          <p:cNvPr id="13" name="Text 9"/>
          <p:cNvSpPr/>
          <p:nvPr/>
        </p:nvSpPr>
        <p:spPr>
          <a:xfrm>
            <a:off x="7406640" y="2130552"/>
            <a:ext cx="420624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5 weeks, structured study, hands-on practice</a:t>
            </a:r>
            <a:endParaRPr lang="en-US" sz="1150" dirty="0"/>
          </a:p>
        </p:txBody>
      </p:sp>
      <p:sp>
        <p:nvSpPr>
          <p:cNvPr id="14" name="Shape 10"/>
          <p:cNvSpPr/>
          <p:nvPr/>
        </p:nvSpPr>
        <p:spPr>
          <a:xfrm>
            <a:off x="548640" y="3017520"/>
            <a:ext cx="5394960" cy="1188720"/>
          </a:xfrm>
          <a:prstGeom prst="roundRect">
            <a:avLst>
              <a:gd name="adj" fmla="val 6154"/>
            </a:avLst>
          </a:prstGeom>
          <a:solidFill>
            <a:srgbClr val="FFFFFF"/>
          </a:solidFill>
          <a:ln w="12700">
            <a:solidFill>
              <a:srgbClr val="DCE4EA"/>
            </a:solidFill>
            <a:prstDash val="solid"/>
          </a:ln>
          <a:effectLst>
            <a:outerShdw blurRad="76200" dist="25400" dir="5400000" algn="bl" rotWithShape="0">
              <a:srgbClr val="000000">
                <a:alpha val="12000"/>
              </a:srgbClr>
            </a:outerShdw>
          </a:effectLst>
        </p:spPr>
      </p:sp>
      <p:sp>
        <p:nvSpPr>
          <p:cNvPr id="15" name="Shape 11"/>
          <p:cNvSpPr/>
          <p:nvPr/>
        </p:nvSpPr>
        <p:spPr>
          <a:xfrm>
            <a:off x="749808" y="3310128"/>
            <a:ext cx="603504" cy="603504"/>
          </a:xfrm>
          <a:prstGeom prst="ellipse">
            <a:avLst/>
          </a:prstGeom>
          <a:solidFill>
            <a:srgbClr val="1C7293"/>
          </a:solidFill>
          <a:ln/>
        </p:spPr>
      </p:sp>
      <p:pic>
        <p:nvPicPr>
          <p:cNvPr id="16" name="Image 2" descr="/home/claude/pptx_work/icons/layers.png"/>
          <p:cNvPicPr>
            <a:picLocks noChangeAspect="1"/>
          </p:cNvPicPr>
          <p:nvPr/>
        </p:nvPicPr>
        <p:blipFill>
          <a:blip r:embed="rId5"/>
          <a:stretch>
            <a:fillRect/>
          </a:stretch>
        </p:blipFill>
        <p:spPr>
          <a:xfrm>
            <a:off x="828264" y="3388584"/>
            <a:ext cx="446593" cy="446593"/>
          </a:xfrm>
          <a:prstGeom prst="rect">
            <a:avLst/>
          </a:prstGeom>
        </p:spPr>
      </p:pic>
      <p:sp>
        <p:nvSpPr>
          <p:cNvPr id="17" name="Text 12"/>
          <p:cNvSpPr/>
          <p:nvPr/>
        </p:nvSpPr>
        <p:spPr>
          <a:xfrm>
            <a:off x="1554480" y="3182112"/>
            <a:ext cx="4206240" cy="365760"/>
          </a:xfrm>
          <a:prstGeom prst="rect">
            <a:avLst/>
          </a:prstGeom>
          <a:noFill/>
          <a:ln/>
        </p:spPr>
        <p:txBody>
          <a:bodyPr wrap="square" rtlCol="0" anchor="ctr"/>
          <a:lstStyle/>
          <a:p>
            <a:pPr marL="0" indent="0">
              <a:buNone/>
            </a:pPr>
            <a:r>
              <a:rPr lang="en-US" sz="1500" b="1" dirty="0">
                <a:solidFill>
                  <a:srgbClr val="0B3D5C"/>
                </a:solidFill>
                <a:latin typeface="Calibri" pitchFamily="34" charset="0"/>
                <a:ea typeface="Calibri" pitchFamily="34" charset="-122"/>
                <a:cs typeface="Calibri" pitchFamily="34" charset="-120"/>
              </a:rPr>
              <a:t>The 7 high-weightage topic areas</a:t>
            </a:r>
            <a:endParaRPr lang="en-US" sz="1500" dirty="0"/>
          </a:p>
        </p:txBody>
      </p:sp>
      <p:sp>
        <p:nvSpPr>
          <p:cNvPr id="18" name="Text 13"/>
          <p:cNvSpPr/>
          <p:nvPr/>
        </p:nvSpPr>
        <p:spPr>
          <a:xfrm>
            <a:off x="1554480" y="3547872"/>
            <a:ext cx="420624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Deep dive into what's actually tested</a:t>
            </a:r>
            <a:endParaRPr lang="en-US" sz="1150" dirty="0"/>
          </a:p>
        </p:txBody>
      </p:sp>
      <p:sp>
        <p:nvSpPr>
          <p:cNvPr id="19" name="Shape 14"/>
          <p:cNvSpPr/>
          <p:nvPr/>
        </p:nvSpPr>
        <p:spPr>
          <a:xfrm>
            <a:off x="6400800" y="3017520"/>
            <a:ext cx="5394960" cy="1188720"/>
          </a:xfrm>
          <a:prstGeom prst="roundRect">
            <a:avLst>
              <a:gd name="adj" fmla="val 6154"/>
            </a:avLst>
          </a:prstGeom>
          <a:solidFill>
            <a:srgbClr val="FFFFFF"/>
          </a:solidFill>
          <a:ln w="12700">
            <a:solidFill>
              <a:srgbClr val="DCE4EA"/>
            </a:solidFill>
            <a:prstDash val="solid"/>
          </a:ln>
          <a:effectLst>
            <a:outerShdw blurRad="76200" dist="25400" dir="5400000" algn="bl" rotWithShape="0">
              <a:srgbClr val="000000">
                <a:alpha val="12000"/>
              </a:srgbClr>
            </a:outerShdw>
          </a:effectLst>
        </p:spPr>
      </p:sp>
      <p:sp>
        <p:nvSpPr>
          <p:cNvPr id="20" name="Shape 15"/>
          <p:cNvSpPr/>
          <p:nvPr/>
        </p:nvSpPr>
        <p:spPr>
          <a:xfrm>
            <a:off x="6601968" y="3310128"/>
            <a:ext cx="603504" cy="603504"/>
          </a:xfrm>
          <a:prstGeom prst="ellipse">
            <a:avLst/>
          </a:prstGeom>
          <a:solidFill>
            <a:srgbClr val="1C7293"/>
          </a:solidFill>
          <a:ln/>
        </p:spPr>
      </p:sp>
      <p:pic>
        <p:nvPicPr>
          <p:cNvPr id="21" name="Image 3" descr="/home/claude/pptx_work/icons/question.png"/>
          <p:cNvPicPr>
            <a:picLocks noChangeAspect="1"/>
          </p:cNvPicPr>
          <p:nvPr/>
        </p:nvPicPr>
        <p:blipFill>
          <a:blip r:embed="rId6"/>
          <a:stretch>
            <a:fillRect/>
          </a:stretch>
        </p:blipFill>
        <p:spPr>
          <a:xfrm>
            <a:off x="6680424" y="3388584"/>
            <a:ext cx="446593" cy="446593"/>
          </a:xfrm>
          <a:prstGeom prst="rect">
            <a:avLst/>
          </a:prstGeom>
        </p:spPr>
      </p:pic>
      <p:sp>
        <p:nvSpPr>
          <p:cNvPr id="22" name="Text 16"/>
          <p:cNvSpPr/>
          <p:nvPr/>
        </p:nvSpPr>
        <p:spPr>
          <a:xfrm>
            <a:off x="7406640" y="3182112"/>
            <a:ext cx="4206240" cy="365760"/>
          </a:xfrm>
          <a:prstGeom prst="rect">
            <a:avLst/>
          </a:prstGeom>
          <a:noFill/>
          <a:ln/>
        </p:spPr>
        <p:txBody>
          <a:bodyPr wrap="square" rtlCol="0" anchor="ctr"/>
          <a:lstStyle/>
          <a:p>
            <a:pPr marL="0" indent="0">
              <a:buNone/>
            </a:pPr>
            <a:r>
              <a:rPr lang="en-US" sz="1500" b="1" dirty="0">
                <a:solidFill>
                  <a:srgbClr val="0B3D5C"/>
                </a:solidFill>
                <a:latin typeface="Calibri" pitchFamily="34" charset="0"/>
                <a:ea typeface="Calibri" pitchFamily="34" charset="-122"/>
                <a:cs typeface="Calibri" pitchFamily="34" charset="-120"/>
              </a:rPr>
              <a:t>Exam format &amp; question style</a:t>
            </a:r>
            <a:endParaRPr lang="en-US" sz="1500" dirty="0"/>
          </a:p>
        </p:txBody>
      </p:sp>
      <p:sp>
        <p:nvSpPr>
          <p:cNvPr id="23" name="Text 17"/>
          <p:cNvSpPr/>
          <p:nvPr/>
        </p:nvSpPr>
        <p:spPr>
          <a:xfrm>
            <a:off x="7406640" y="3547872"/>
            <a:ext cx="420624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Scenario-based, code-heavy, timed</a:t>
            </a:r>
            <a:endParaRPr lang="en-US" sz="1150" dirty="0"/>
          </a:p>
        </p:txBody>
      </p:sp>
      <p:sp>
        <p:nvSpPr>
          <p:cNvPr id="24" name="Shape 18"/>
          <p:cNvSpPr/>
          <p:nvPr/>
        </p:nvSpPr>
        <p:spPr>
          <a:xfrm>
            <a:off x="548640" y="4434840"/>
            <a:ext cx="5394960" cy="1188720"/>
          </a:xfrm>
          <a:prstGeom prst="roundRect">
            <a:avLst>
              <a:gd name="adj" fmla="val 6154"/>
            </a:avLst>
          </a:prstGeom>
          <a:solidFill>
            <a:srgbClr val="FFFFFF"/>
          </a:solidFill>
          <a:ln w="12700">
            <a:solidFill>
              <a:srgbClr val="DCE4EA"/>
            </a:solidFill>
            <a:prstDash val="solid"/>
          </a:ln>
          <a:effectLst>
            <a:outerShdw blurRad="76200" dist="25400" dir="5400000" algn="bl" rotWithShape="0">
              <a:srgbClr val="000000">
                <a:alpha val="12000"/>
              </a:srgbClr>
            </a:outerShdw>
          </a:effectLst>
        </p:spPr>
      </p:sp>
      <p:sp>
        <p:nvSpPr>
          <p:cNvPr id="25" name="Shape 19"/>
          <p:cNvSpPr/>
          <p:nvPr/>
        </p:nvSpPr>
        <p:spPr>
          <a:xfrm>
            <a:off x="749808" y="4727448"/>
            <a:ext cx="603504" cy="603504"/>
          </a:xfrm>
          <a:prstGeom prst="ellipse">
            <a:avLst/>
          </a:prstGeom>
          <a:solidFill>
            <a:srgbClr val="1C7293"/>
          </a:solidFill>
          <a:ln/>
        </p:spPr>
      </p:sp>
      <p:pic>
        <p:nvPicPr>
          <p:cNvPr id="26" name="Image 4" descr="/home/claude/pptx_work/icons/warning.png"/>
          <p:cNvPicPr>
            <a:picLocks noChangeAspect="1"/>
          </p:cNvPicPr>
          <p:nvPr/>
        </p:nvPicPr>
        <p:blipFill>
          <a:blip r:embed="rId7"/>
          <a:stretch>
            <a:fillRect/>
          </a:stretch>
        </p:blipFill>
        <p:spPr>
          <a:xfrm>
            <a:off x="828264" y="4805904"/>
            <a:ext cx="446593" cy="446593"/>
          </a:xfrm>
          <a:prstGeom prst="rect">
            <a:avLst/>
          </a:prstGeom>
        </p:spPr>
      </p:pic>
      <p:sp>
        <p:nvSpPr>
          <p:cNvPr id="27" name="Text 20"/>
          <p:cNvSpPr/>
          <p:nvPr/>
        </p:nvSpPr>
        <p:spPr>
          <a:xfrm>
            <a:off x="1554480" y="4599432"/>
            <a:ext cx="4206240" cy="365760"/>
          </a:xfrm>
          <a:prstGeom prst="rect">
            <a:avLst/>
          </a:prstGeom>
          <a:noFill/>
          <a:ln/>
        </p:spPr>
        <p:txBody>
          <a:bodyPr wrap="square" rtlCol="0" anchor="ctr"/>
          <a:lstStyle/>
          <a:p>
            <a:pPr marL="0" indent="0">
              <a:buNone/>
            </a:pPr>
            <a:r>
              <a:rPr lang="en-US" sz="1500" b="1" dirty="0">
                <a:solidFill>
                  <a:srgbClr val="0B3D5C"/>
                </a:solidFill>
                <a:latin typeface="Calibri" pitchFamily="34" charset="0"/>
                <a:ea typeface="Calibri" pitchFamily="34" charset="-122"/>
                <a:cs typeface="Calibri" pitchFamily="34" charset="-120"/>
              </a:rPr>
              <a:t>Proctoring — stricter than you'd expect</a:t>
            </a:r>
            <a:endParaRPr lang="en-US" sz="1500" dirty="0"/>
          </a:p>
        </p:txBody>
      </p:sp>
      <p:sp>
        <p:nvSpPr>
          <p:cNvPr id="28" name="Text 21"/>
          <p:cNvSpPr/>
          <p:nvPr/>
        </p:nvSpPr>
        <p:spPr>
          <a:xfrm>
            <a:off x="1554480" y="4965192"/>
            <a:ext cx="420624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A real story from my first attempt</a:t>
            </a:r>
            <a:endParaRPr lang="en-US" sz="1150" dirty="0"/>
          </a:p>
        </p:txBody>
      </p:sp>
      <p:sp>
        <p:nvSpPr>
          <p:cNvPr id="29" name="Shape 22"/>
          <p:cNvSpPr/>
          <p:nvPr/>
        </p:nvSpPr>
        <p:spPr>
          <a:xfrm>
            <a:off x="6400800" y="4434840"/>
            <a:ext cx="5394960" cy="1188720"/>
          </a:xfrm>
          <a:prstGeom prst="roundRect">
            <a:avLst>
              <a:gd name="adj" fmla="val 6154"/>
            </a:avLst>
          </a:prstGeom>
          <a:solidFill>
            <a:srgbClr val="FFFFFF"/>
          </a:solidFill>
          <a:ln w="12700">
            <a:solidFill>
              <a:srgbClr val="DCE4EA"/>
            </a:solidFill>
            <a:prstDash val="solid"/>
          </a:ln>
          <a:effectLst>
            <a:outerShdw blurRad="76200" dist="25400" dir="5400000" algn="bl" rotWithShape="0">
              <a:srgbClr val="000000">
                <a:alpha val="12000"/>
              </a:srgbClr>
            </a:outerShdw>
          </a:effectLst>
        </p:spPr>
      </p:sp>
      <p:sp>
        <p:nvSpPr>
          <p:cNvPr id="30" name="Shape 23"/>
          <p:cNvSpPr/>
          <p:nvPr/>
        </p:nvSpPr>
        <p:spPr>
          <a:xfrm>
            <a:off x="6601968" y="4727448"/>
            <a:ext cx="603504" cy="603504"/>
          </a:xfrm>
          <a:prstGeom prst="ellipse">
            <a:avLst/>
          </a:prstGeom>
          <a:solidFill>
            <a:srgbClr val="1C7293"/>
          </a:solidFill>
          <a:ln/>
        </p:spPr>
      </p:sp>
      <p:pic>
        <p:nvPicPr>
          <p:cNvPr id="31" name="Image 5" descr="/home/claude/pptx_work/icons/cap.png"/>
          <p:cNvPicPr>
            <a:picLocks noChangeAspect="1"/>
          </p:cNvPicPr>
          <p:nvPr/>
        </p:nvPicPr>
        <p:blipFill>
          <a:blip r:embed="rId8"/>
          <a:stretch>
            <a:fillRect/>
          </a:stretch>
        </p:blipFill>
        <p:spPr>
          <a:xfrm>
            <a:off x="6680424" y="4805904"/>
            <a:ext cx="446593" cy="446593"/>
          </a:xfrm>
          <a:prstGeom prst="rect">
            <a:avLst/>
          </a:prstGeom>
        </p:spPr>
      </p:pic>
      <p:sp>
        <p:nvSpPr>
          <p:cNvPr id="32" name="Text 24"/>
          <p:cNvSpPr/>
          <p:nvPr/>
        </p:nvSpPr>
        <p:spPr>
          <a:xfrm>
            <a:off x="7406640" y="4599432"/>
            <a:ext cx="4206240" cy="365760"/>
          </a:xfrm>
          <a:prstGeom prst="rect">
            <a:avLst/>
          </a:prstGeom>
          <a:noFill/>
          <a:ln/>
        </p:spPr>
        <p:txBody>
          <a:bodyPr wrap="square" rtlCol="0" anchor="ctr"/>
          <a:lstStyle/>
          <a:p>
            <a:pPr marL="0" indent="0">
              <a:buNone/>
            </a:pPr>
            <a:r>
              <a:rPr lang="en-US" sz="1500" b="1" dirty="0">
                <a:solidFill>
                  <a:srgbClr val="0B3D5C"/>
                </a:solidFill>
                <a:latin typeface="Calibri" pitchFamily="34" charset="0"/>
                <a:ea typeface="Calibri" pitchFamily="34" charset="-122"/>
                <a:cs typeface="Calibri" pitchFamily="34" charset="-120"/>
              </a:rPr>
              <a:t>Tips, resources &amp; next steps</a:t>
            </a:r>
            <a:endParaRPr lang="en-US" sz="1500" dirty="0"/>
          </a:p>
        </p:txBody>
      </p:sp>
      <p:sp>
        <p:nvSpPr>
          <p:cNvPr id="33" name="Text 25"/>
          <p:cNvSpPr/>
          <p:nvPr/>
        </p:nvSpPr>
        <p:spPr>
          <a:xfrm>
            <a:off x="7406640" y="4965192"/>
            <a:ext cx="420624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How you can prepare efficiently</a:t>
            </a:r>
            <a:endParaRPr lang="en-US" sz="1150" dirty="0"/>
          </a:p>
        </p:txBody>
      </p:sp>
      <p:sp>
        <p:nvSpPr>
          <p:cNvPr id="34" name="Text 26"/>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35" name="Text 2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CONTEXT</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Why This Certification Matters to Us</a:t>
            </a:r>
            <a:endParaRPr lang="en-US" sz="3000" dirty="0"/>
          </a:p>
        </p:txBody>
      </p:sp>
      <p:sp>
        <p:nvSpPr>
          <p:cNvPr id="4" name="Shape 2"/>
          <p:cNvSpPr/>
          <p:nvPr/>
        </p:nvSpPr>
        <p:spPr>
          <a:xfrm>
            <a:off x="548640" y="1691640"/>
            <a:ext cx="6949440" cy="4297680"/>
          </a:xfrm>
          <a:prstGeom prst="roundRect">
            <a:avLst>
              <a:gd name="adj" fmla="val 1702"/>
            </a:avLst>
          </a:prstGeom>
          <a:solidFill>
            <a:srgbClr val="F7F9FA"/>
          </a:solidFill>
          <a:ln/>
        </p:spPr>
      </p:sp>
      <p:sp>
        <p:nvSpPr>
          <p:cNvPr id="5" name="Text 3"/>
          <p:cNvSpPr/>
          <p:nvPr/>
        </p:nvSpPr>
        <p:spPr>
          <a:xfrm>
            <a:off x="868680" y="1920240"/>
            <a:ext cx="6309360" cy="731520"/>
          </a:xfrm>
          <a:prstGeom prst="rect">
            <a:avLst/>
          </a:prstGeom>
          <a:noFill/>
          <a:ln/>
        </p:spPr>
        <p:txBody>
          <a:bodyPr wrap="square" rtlCol="0" anchor="t"/>
          <a:lstStyle/>
          <a:p>
            <a:pPr marL="0" indent="0">
              <a:lnSpc>
                <a:spcPts val="1700"/>
              </a:lnSpc>
              <a:buNone/>
            </a:pPr>
            <a:r>
              <a:rPr lang="en-US" sz="1350" b="1" dirty="0">
                <a:solidFill>
                  <a:srgbClr val="F2A93B"/>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Validates advanced, production-grade skills on the Databricks Lakehouse Platform — not just notebook-level familiarity</a:t>
            </a:r>
            <a:endParaRPr lang="en-US" sz="1350" dirty="0"/>
          </a:p>
        </p:txBody>
      </p:sp>
      <p:sp>
        <p:nvSpPr>
          <p:cNvPr id="6" name="Text 4"/>
          <p:cNvSpPr/>
          <p:nvPr/>
        </p:nvSpPr>
        <p:spPr>
          <a:xfrm>
            <a:off x="868680" y="2697480"/>
            <a:ext cx="6309360" cy="731520"/>
          </a:xfrm>
          <a:prstGeom prst="rect">
            <a:avLst/>
          </a:prstGeom>
          <a:noFill/>
          <a:ln/>
        </p:spPr>
        <p:txBody>
          <a:bodyPr wrap="square" rtlCol="0" anchor="t"/>
          <a:lstStyle/>
          <a:p>
            <a:pPr marL="0" indent="0">
              <a:lnSpc>
                <a:spcPts val="1700"/>
              </a:lnSpc>
              <a:buNone/>
            </a:pPr>
            <a:r>
              <a:rPr lang="en-US" sz="1350" b="1" dirty="0">
                <a:solidFill>
                  <a:srgbClr val="F2A93B"/>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Covers exactly the areas we touch in real projects: pipeline design, performance tuning, security, and governance</a:t>
            </a:r>
            <a:endParaRPr lang="en-US" sz="1350" dirty="0"/>
          </a:p>
        </p:txBody>
      </p:sp>
      <p:sp>
        <p:nvSpPr>
          <p:cNvPr id="7" name="Text 5"/>
          <p:cNvSpPr/>
          <p:nvPr/>
        </p:nvSpPr>
        <p:spPr>
          <a:xfrm>
            <a:off x="868680" y="3474720"/>
            <a:ext cx="6309360" cy="731520"/>
          </a:xfrm>
          <a:prstGeom prst="rect">
            <a:avLst/>
          </a:prstGeom>
          <a:noFill/>
          <a:ln/>
        </p:spPr>
        <p:txBody>
          <a:bodyPr wrap="square" rtlCol="0" anchor="t"/>
          <a:lstStyle/>
          <a:p>
            <a:pPr marL="0" indent="0">
              <a:lnSpc>
                <a:spcPts val="1700"/>
              </a:lnSpc>
              <a:buNone/>
            </a:pPr>
            <a:r>
              <a:rPr lang="en-US" sz="1350" b="1" dirty="0">
                <a:solidFill>
                  <a:srgbClr val="F2A93B"/>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Complements our existing Azure Data Factory and Snowflake expertise — many concepts (medallion architecture, CDC, orchestration) map directly</a:t>
            </a:r>
            <a:endParaRPr lang="en-US" sz="1350" dirty="0"/>
          </a:p>
        </p:txBody>
      </p:sp>
      <p:sp>
        <p:nvSpPr>
          <p:cNvPr id="8" name="Text 6"/>
          <p:cNvSpPr/>
          <p:nvPr/>
        </p:nvSpPr>
        <p:spPr>
          <a:xfrm>
            <a:off x="868680" y="4251960"/>
            <a:ext cx="6309360" cy="731520"/>
          </a:xfrm>
          <a:prstGeom prst="rect">
            <a:avLst/>
          </a:prstGeom>
          <a:noFill/>
          <a:ln/>
        </p:spPr>
        <p:txBody>
          <a:bodyPr wrap="square" rtlCol="0" anchor="t"/>
          <a:lstStyle/>
          <a:p>
            <a:pPr marL="0" indent="0">
              <a:lnSpc>
                <a:spcPts val="1700"/>
              </a:lnSpc>
              <a:buNone/>
            </a:pPr>
            <a:r>
              <a:rPr lang="en-US" sz="1350" b="1" dirty="0">
                <a:solidFill>
                  <a:srgbClr val="F2A93B"/>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Recognized industry-wide as proof of hands-on depth, not just theoretical Spark knowledge</a:t>
            </a:r>
            <a:endParaRPr lang="en-US" sz="1350" dirty="0"/>
          </a:p>
        </p:txBody>
      </p:sp>
      <p:sp>
        <p:nvSpPr>
          <p:cNvPr id="9" name="Text 7"/>
          <p:cNvSpPr/>
          <p:nvPr/>
        </p:nvSpPr>
        <p:spPr>
          <a:xfrm>
            <a:off x="868680" y="5029200"/>
            <a:ext cx="6309360" cy="731520"/>
          </a:xfrm>
          <a:prstGeom prst="rect">
            <a:avLst/>
          </a:prstGeom>
          <a:noFill/>
          <a:ln/>
        </p:spPr>
        <p:txBody>
          <a:bodyPr wrap="square" rtlCol="0" anchor="t"/>
          <a:lstStyle/>
          <a:p>
            <a:pPr marL="0" indent="0">
              <a:lnSpc>
                <a:spcPts val="1700"/>
              </a:lnSpc>
              <a:buNone/>
            </a:pPr>
            <a:r>
              <a:rPr lang="en-US" sz="1350" b="1" dirty="0">
                <a:solidFill>
                  <a:srgbClr val="F2A93B"/>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Directly useful if we expand our lakehouse footprint or take on Databricks-based client work</a:t>
            </a:r>
            <a:endParaRPr lang="en-US" sz="1350" dirty="0"/>
          </a:p>
        </p:txBody>
      </p:sp>
      <p:sp>
        <p:nvSpPr>
          <p:cNvPr id="10" name="Shape 8"/>
          <p:cNvSpPr/>
          <p:nvPr/>
        </p:nvSpPr>
        <p:spPr>
          <a:xfrm>
            <a:off x="7818120" y="1691640"/>
            <a:ext cx="3794760" cy="4297680"/>
          </a:xfrm>
          <a:prstGeom prst="roundRect">
            <a:avLst>
              <a:gd name="adj" fmla="val 1928"/>
            </a:avLst>
          </a:prstGeom>
          <a:solidFill>
            <a:srgbClr val="0B3D5C"/>
          </a:solidFill>
          <a:ln/>
        </p:spPr>
      </p:sp>
      <p:sp>
        <p:nvSpPr>
          <p:cNvPr id="11" name="Shape 9"/>
          <p:cNvSpPr/>
          <p:nvPr/>
        </p:nvSpPr>
        <p:spPr>
          <a:xfrm>
            <a:off x="9326880" y="2057400"/>
            <a:ext cx="822960" cy="822960"/>
          </a:xfrm>
          <a:prstGeom prst="ellipse">
            <a:avLst/>
          </a:prstGeom>
          <a:solidFill>
            <a:srgbClr val="1C7293"/>
          </a:solidFill>
          <a:ln/>
        </p:spPr>
      </p:sp>
      <p:pic>
        <p:nvPicPr>
          <p:cNvPr id="12" name="Image 0" descr="/home/claude/pptx_work/icons/cap.png"/>
          <p:cNvPicPr>
            <a:picLocks noChangeAspect="1"/>
          </p:cNvPicPr>
          <p:nvPr/>
        </p:nvPicPr>
        <p:blipFill>
          <a:blip r:embed="rId3"/>
          <a:stretch>
            <a:fillRect/>
          </a:stretch>
        </p:blipFill>
        <p:spPr>
          <a:xfrm>
            <a:off x="9433865" y="2164385"/>
            <a:ext cx="608990" cy="608990"/>
          </a:xfrm>
          <a:prstGeom prst="rect">
            <a:avLst/>
          </a:prstGeom>
        </p:spPr>
      </p:pic>
      <p:sp>
        <p:nvSpPr>
          <p:cNvPr id="13" name="Text 10"/>
          <p:cNvSpPr/>
          <p:nvPr/>
        </p:nvSpPr>
        <p:spPr>
          <a:xfrm>
            <a:off x="8001000" y="3017520"/>
            <a:ext cx="3429000" cy="3657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Professional</a:t>
            </a:r>
            <a:endParaRPr lang="en-US" sz="1600" dirty="0"/>
          </a:p>
        </p:txBody>
      </p:sp>
      <p:sp>
        <p:nvSpPr>
          <p:cNvPr id="14" name="Text 11"/>
          <p:cNvSpPr/>
          <p:nvPr/>
        </p:nvSpPr>
        <p:spPr>
          <a:xfrm>
            <a:off x="8001000" y="3337560"/>
            <a:ext cx="3429000" cy="365760"/>
          </a:xfrm>
          <a:prstGeom prst="rect">
            <a:avLst/>
          </a:prstGeom>
          <a:noFill/>
          <a:ln/>
        </p:spPr>
        <p:txBody>
          <a:bodyPr wrap="square" rtlCol="0" anchor="ctr"/>
          <a:lstStyle/>
          <a:p>
            <a:pPr marL="0" indent="0" algn="ctr">
              <a:buNone/>
            </a:pPr>
            <a:r>
              <a:rPr lang="en-US" sz="1600" b="1" dirty="0">
                <a:solidFill>
                  <a:srgbClr val="F2A93B"/>
                </a:solidFill>
                <a:latin typeface="Cambria" pitchFamily="34" charset="0"/>
                <a:ea typeface="Cambria" pitchFamily="34" charset="-122"/>
                <a:cs typeface="Cambria" pitchFamily="34" charset="-120"/>
              </a:rPr>
              <a:t>Tier</a:t>
            </a:r>
            <a:endParaRPr lang="en-US" sz="1600" dirty="0"/>
          </a:p>
        </p:txBody>
      </p:sp>
      <p:sp>
        <p:nvSpPr>
          <p:cNvPr id="15" name="Text 12"/>
          <p:cNvSpPr/>
          <p:nvPr/>
        </p:nvSpPr>
        <p:spPr>
          <a:xfrm>
            <a:off x="8092440" y="3886200"/>
            <a:ext cx="3246120" cy="1737360"/>
          </a:xfrm>
          <a:prstGeom prst="rect">
            <a:avLst/>
          </a:prstGeom>
          <a:noFill/>
          <a:ln/>
        </p:spPr>
        <p:txBody>
          <a:bodyPr wrap="square" rtlCol="0" anchor="ctr"/>
          <a:lstStyle/>
          <a:p>
            <a:pPr marL="0" indent="0" algn="ctr">
              <a:lnSpc>
                <a:spcPts val="1600"/>
              </a:lnSpc>
              <a:buNone/>
            </a:pPr>
            <a:r>
              <a:rPr lang="en-US" sz="1200" dirty="0">
                <a:solidFill>
                  <a:srgbClr val="CADCFC"/>
                </a:solidFill>
                <a:latin typeface="Calibri" pitchFamily="34" charset="0"/>
                <a:ea typeface="Calibri" pitchFamily="34" charset="-122"/>
                <a:cs typeface="Calibri" pitchFamily="34" charset="-120"/>
              </a:rPr>
              <a:t>Highest level in the Databricks Data Engineer track — above Associate, tests real architectural judgment</a:t>
            </a:r>
            <a:endParaRPr lang="en-US" sz="1200" dirty="0"/>
          </a:p>
        </p:txBody>
      </p:sp>
      <p:sp>
        <p:nvSpPr>
          <p:cNvPr id="16" name="Text 13"/>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17" name="Text 1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MY RESULTS</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Score Breakdown by Topic</a:t>
            </a:r>
            <a:endParaRPr lang="en-US" sz="3000" dirty="0"/>
          </a:p>
        </p:txBody>
      </p:sp>
      <p:sp>
        <p:nvSpPr>
          <p:cNvPr id="4" name="Shape 2"/>
          <p:cNvSpPr/>
          <p:nvPr/>
        </p:nvSpPr>
        <p:spPr>
          <a:xfrm>
            <a:off x="548640" y="1645920"/>
            <a:ext cx="2880360" cy="4343400"/>
          </a:xfrm>
          <a:prstGeom prst="roundRect">
            <a:avLst>
              <a:gd name="adj" fmla="val 2540"/>
            </a:avLst>
          </a:prstGeom>
          <a:solidFill>
            <a:srgbClr val="0B3D5C"/>
          </a:solidFill>
          <a:ln/>
        </p:spPr>
      </p:sp>
      <p:sp>
        <p:nvSpPr>
          <p:cNvPr id="5" name="Text 3"/>
          <p:cNvSpPr/>
          <p:nvPr/>
        </p:nvSpPr>
        <p:spPr>
          <a:xfrm>
            <a:off x="548640" y="1965960"/>
            <a:ext cx="2880360" cy="640080"/>
          </a:xfrm>
          <a:prstGeom prst="rect">
            <a:avLst/>
          </a:prstGeom>
          <a:noFill/>
          <a:ln/>
        </p:spPr>
        <p:txBody>
          <a:bodyPr wrap="square" rtlCol="0" anchor="ctr"/>
          <a:lstStyle/>
          <a:p>
            <a:pPr marL="0" indent="0" algn="ctr">
              <a:buNone/>
            </a:pPr>
            <a:r>
              <a:rPr lang="en-US" sz="3400" b="1" dirty="0">
                <a:solidFill>
                  <a:srgbClr val="F2A93B"/>
                </a:solidFill>
                <a:latin typeface="Cambria" pitchFamily="34" charset="0"/>
                <a:ea typeface="Cambria" pitchFamily="34" charset="-122"/>
                <a:cs typeface="Cambria" pitchFamily="34" charset="-120"/>
              </a:rPr>
              <a:t>PASS</a:t>
            </a:r>
            <a:endParaRPr lang="en-US" sz="3400" dirty="0"/>
          </a:p>
        </p:txBody>
      </p:sp>
      <p:sp>
        <p:nvSpPr>
          <p:cNvPr id="6" name="Shape 4"/>
          <p:cNvSpPr/>
          <p:nvPr/>
        </p:nvSpPr>
        <p:spPr>
          <a:xfrm>
            <a:off x="1188720" y="2697480"/>
            <a:ext cx="1600200" cy="0"/>
          </a:xfrm>
          <a:prstGeom prst="line">
            <a:avLst/>
          </a:prstGeom>
          <a:noFill/>
          <a:ln w="19050">
            <a:solidFill>
              <a:srgbClr val="1C7293"/>
            </a:solidFill>
            <a:prstDash val="solid"/>
          </a:ln>
        </p:spPr>
      </p:sp>
      <p:sp>
        <p:nvSpPr>
          <p:cNvPr id="7" name="Text 5"/>
          <p:cNvSpPr/>
          <p:nvPr/>
        </p:nvSpPr>
        <p:spPr>
          <a:xfrm>
            <a:off x="548640" y="2880360"/>
            <a:ext cx="2880360" cy="5486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71</a:t>
            </a:r>
            <a:endParaRPr lang="en-US" sz="3000" dirty="0"/>
          </a:p>
        </p:txBody>
      </p:sp>
      <p:sp>
        <p:nvSpPr>
          <p:cNvPr id="8" name="Text 6"/>
          <p:cNvSpPr/>
          <p:nvPr/>
        </p:nvSpPr>
        <p:spPr>
          <a:xfrm>
            <a:off x="548640" y="3429000"/>
            <a:ext cx="2880360" cy="320040"/>
          </a:xfrm>
          <a:prstGeom prst="rect">
            <a:avLst/>
          </a:prstGeom>
          <a:noFill/>
          <a:ln/>
        </p:spPr>
        <p:txBody>
          <a:bodyPr wrap="square" rtlCol="0" anchor="ctr"/>
          <a:lstStyle/>
          <a:p>
            <a:pPr marL="0" indent="0" algn="ctr">
              <a:buNone/>
            </a:pPr>
            <a:r>
              <a:rPr lang="en-US" sz="1100" dirty="0">
                <a:solidFill>
                  <a:srgbClr val="9FB3C8"/>
                </a:solidFill>
                <a:latin typeface="Calibri" pitchFamily="34" charset="0"/>
                <a:ea typeface="Calibri" pitchFamily="34" charset="-122"/>
                <a:cs typeface="Calibri" pitchFamily="34" charset="-120"/>
              </a:rPr>
              <a:t>of 120 minutes used</a:t>
            </a:r>
            <a:endParaRPr lang="en-US" sz="1100" dirty="0"/>
          </a:p>
        </p:txBody>
      </p:sp>
      <p:sp>
        <p:nvSpPr>
          <p:cNvPr id="9" name="Text 7"/>
          <p:cNvSpPr/>
          <p:nvPr/>
        </p:nvSpPr>
        <p:spPr>
          <a:xfrm>
            <a:off x="548640" y="3977640"/>
            <a:ext cx="2880360" cy="5486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10</a:t>
            </a:r>
            <a:endParaRPr lang="en-US" sz="3000" dirty="0"/>
          </a:p>
        </p:txBody>
      </p:sp>
      <p:sp>
        <p:nvSpPr>
          <p:cNvPr id="10" name="Text 8"/>
          <p:cNvSpPr/>
          <p:nvPr/>
        </p:nvSpPr>
        <p:spPr>
          <a:xfrm>
            <a:off x="548640" y="4526280"/>
            <a:ext cx="2880360" cy="320040"/>
          </a:xfrm>
          <a:prstGeom prst="rect">
            <a:avLst/>
          </a:prstGeom>
          <a:noFill/>
          <a:ln/>
        </p:spPr>
        <p:txBody>
          <a:bodyPr wrap="square" rtlCol="0" anchor="ctr"/>
          <a:lstStyle/>
          <a:p>
            <a:pPr marL="0" indent="0" algn="ctr">
              <a:buNone/>
            </a:pPr>
            <a:r>
              <a:rPr lang="en-US" sz="1100" dirty="0">
                <a:solidFill>
                  <a:srgbClr val="9FB3C8"/>
                </a:solidFill>
                <a:latin typeface="Calibri" pitchFamily="34" charset="0"/>
                <a:ea typeface="Calibri" pitchFamily="34" charset="-122"/>
                <a:cs typeface="Calibri" pitchFamily="34" charset="-120"/>
              </a:rPr>
              <a:t>scored topic sections</a:t>
            </a:r>
            <a:endParaRPr lang="en-US" sz="1100" dirty="0"/>
          </a:p>
        </p:txBody>
      </p:sp>
      <p:sp>
        <p:nvSpPr>
          <p:cNvPr id="11" name="Text 9"/>
          <p:cNvSpPr/>
          <p:nvPr/>
        </p:nvSpPr>
        <p:spPr>
          <a:xfrm>
            <a:off x="548640" y="5120640"/>
            <a:ext cx="288036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19 Jul 2026</a:t>
            </a:r>
            <a:endParaRPr lang="en-US" sz="1500" dirty="0"/>
          </a:p>
        </p:txBody>
      </p:sp>
      <p:sp>
        <p:nvSpPr>
          <p:cNvPr id="12" name="Text 10"/>
          <p:cNvSpPr/>
          <p:nvPr/>
        </p:nvSpPr>
        <p:spPr>
          <a:xfrm>
            <a:off x="548640" y="5532120"/>
            <a:ext cx="2880360" cy="320040"/>
          </a:xfrm>
          <a:prstGeom prst="rect">
            <a:avLst/>
          </a:prstGeom>
          <a:noFill/>
          <a:ln/>
        </p:spPr>
        <p:txBody>
          <a:bodyPr wrap="square" rtlCol="0" anchor="ctr"/>
          <a:lstStyle/>
          <a:p>
            <a:pPr marL="0" indent="0" algn="ctr">
              <a:buNone/>
            </a:pPr>
            <a:r>
              <a:rPr lang="en-US" sz="1100" dirty="0">
                <a:solidFill>
                  <a:srgbClr val="9FB3C8"/>
                </a:solidFill>
                <a:latin typeface="Calibri" pitchFamily="34" charset="0"/>
                <a:ea typeface="Calibri" pitchFamily="34" charset="-122"/>
                <a:cs typeface="Calibri" pitchFamily="34" charset="-120"/>
              </a:rPr>
              <a:t>date completed</a:t>
            </a:r>
            <a:endParaRPr lang="en-US" sz="1100" dirty="0"/>
          </a:p>
        </p:txBody>
      </p:sp>
      <p:graphicFrame>
        <p:nvGraphicFramePr>
          <p:cNvPr id="13" name="Chart 0"/>
          <p:cNvGraphicFramePr/>
          <p:nvPr/>
        </p:nvGraphicFramePr>
        <p:xfrm>
          <a:off x="3657600" y="1645920"/>
          <a:ext cx="80010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15" name="Text 1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PREPARATION</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How I Structured My Study (5 Weeks)</a:t>
            </a:r>
            <a:endParaRPr lang="en-US" sz="3000" dirty="0"/>
          </a:p>
        </p:txBody>
      </p:sp>
      <p:sp>
        <p:nvSpPr>
          <p:cNvPr id="4" name="Shape 2"/>
          <p:cNvSpPr/>
          <p:nvPr/>
        </p:nvSpPr>
        <p:spPr>
          <a:xfrm>
            <a:off x="502920" y="1691640"/>
            <a:ext cx="3611880" cy="2148840"/>
          </a:xfrm>
          <a:prstGeom prst="roundRect">
            <a:avLst>
              <a:gd name="adj" fmla="val 3404"/>
            </a:avLst>
          </a:prstGeom>
          <a:solidFill>
            <a:srgbClr val="EEF3F6"/>
          </a:solidFill>
          <a:ln/>
        </p:spPr>
      </p:sp>
      <p:sp>
        <p:nvSpPr>
          <p:cNvPr id="5" name="Shape 3"/>
          <p:cNvSpPr/>
          <p:nvPr/>
        </p:nvSpPr>
        <p:spPr>
          <a:xfrm>
            <a:off x="704088" y="1490472"/>
            <a:ext cx="402336" cy="402336"/>
          </a:xfrm>
          <a:prstGeom prst="roundRect">
            <a:avLst>
              <a:gd name="adj" fmla="val 50000"/>
            </a:avLst>
          </a:prstGeom>
          <a:solidFill>
            <a:srgbClr val="F2A93B"/>
          </a:solidFill>
          <a:ln w="25400">
            <a:solidFill>
              <a:srgbClr val="FFFFFF"/>
            </a:solidFill>
            <a:prstDash val="solid"/>
          </a:ln>
        </p:spPr>
      </p:sp>
      <p:sp>
        <p:nvSpPr>
          <p:cNvPr id="6" name="Text 4"/>
          <p:cNvSpPr/>
          <p:nvPr/>
        </p:nvSpPr>
        <p:spPr>
          <a:xfrm>
            <a:off x="704088" y="1490472"/>
            <a:ext cx="402336" cy="402336"/>
          </a:xfrm>
          <a:prstGeom prst="rect">
            <a:avLst/>
          </a:prstGeom>
          <a:noFill/>
          <a:ln/>
        </p:spPr>
        <p:txBody>
          <a:bodyPr wrap="square" rtlCol="0" anchor="ctr"/>
          <a:lstStyle/>
          <a:p>
            <a:pPr marL="0" indent="0" algn="ctr">
              <a:buNone/>
            </a:pPr>
            <a:r>
              <a:rPr lang="en-US" sz="1400" b="1" dirty="0">
                <a:solidFill>
                  <a:srgbClr val="0B3D5C"/>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731520" y="1965960"/>
            <a:ext cx="548640" cy="548640"/>
          </a:xfrm>
          <a:prstGeom prst="ellipse">
            <a:avLst/>
          </a:prstGeom>
          <a:solidFill>
            <a:srgbClr val="1C7293"/>
          </a:solidFill>
          <a:ln/>
        </p:spPr>
      </p:sp>
      <p:pic>
        <p:nvPicPr>
          <p:cNvPr id="8" name="Image 0" descr="/home/claude/pptx_work/icons/listol.png"/>
          <p:cNvPicPr>
            <a:picLocks noChangeAspect="1"/>
          </p:cNvPicPr>
          <p:nvPr/>
        </p:nvPicPr>
        <p:blipFill>
          <a:blip r:embed="rId3"/>
          <a:stretch>
            <a:fillRect/>
          </a:stretch>
        </p:blipFill>
        <p:spPr>
          <a:xfrm>
            <a:off x="802843" y="2037283"/>
            <a:ext cx="405994" cy="405994"/>
          </a:xfrm>
          <a:prstGeom prst="rect">
            <a:avLst/>
          </a:prstGeom>
        </p:spPr>
      </p:pic>
      <p:sp>
        <p:nvSpPr>
          <p:cNvPr id="9" name="Text 6"/>
          <p:cNvSpPr/>
          <p:nvPr/>
        </p:nvSpPr>
        <p:spPr>
          <a:xfrm>
            <a:off x="731520" y="2606040"/>
            <a:ext cx="3154680" cy="365760"/>
          </a:xfrm>
          <a:prstGeom prst="rect">
            <a:avLst/>
          </a:prstGeom>
          <a:noFill/>
          <a:ln/>
        </p:spPr>
        <p:txBody>
          <a:bodyPr wrap="square" rtlCol="0" anchor="ctr"/>
          <a:lstStyle/>
          <a:p>
            <a:pPr marL="0" indent="0">
              <a:buNone/>
            </a:pPr>
            <a:r>
              <a:rPr lang="en-US" sz="1350" b="1" dirty="0">
                <a:solidFill>
                  <a:srgbClr val="0B3D5C"/>
                </a:solidFill>
                <a:latin typeface="Calibri" pitchFamily="34" charset="0"/>
                <a:ea typeface="Calibri" pitchFamily="34" charset="-122"/>
                <a:cs typeface="Calibri" pitchFamily="34" charset="-120"/>
              </a:rPr>
              <a:t>Exam Guide First</a:t>
            </a:r>
            <a:endParaRPr lang="en-US" sz="1350" dirty="0"/>
          </a:p>
        </p:txBody>
      </p:sp>
      <p:sp>
        <p:nvSpPr>
          <p:cNvPr id="10" name="Text 7"/>
          <p:cNvSpPr/>
          <p:nvPr/>
        </p:nvSpPr>
        <p:spPr>
          <a:xfrm>
            <a:off x="731520" y="2971800"/>
            <a:ext cx="3154680" cy="82296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Read Databricks' official exam guide to map the 10 domains and their weightage before studying anything</a:t>
            </a:r>
            <a:endParaRPr lang="en-US" sz="1050" dirty="0"/>
          </a:p>
        </p:txBody>
      </p:sp>
      <p:sp>
        <p:nvSpPr>
          <p:cNvPr id="11" name="Shape 8"/>
          <p:cNvSpPr/>
          <p:nvPr/>
        </p:nvSpPr>
        <p:spPr>
          <a:xfrm>
            <a:off x="4315968" y="1691640"/>
            <a:ext cx="3611880" cy="2148840"/>
          </a:xfrm>
          <a:prstGeom prst="roundRect">
            <a:avLst>
              <a:gd name="adj" fmla="val 3404"/>
            </a:avLst>
          </a:prstGeom>
          <a:solidFill>
            <a:srgbClr val="EEF3F6"/>
          </a:solidFill>
          <a:ln/>
        </p:spPr>
      </p:sp>
      <p:sp>
        <p:nvSpPr>
          <p:cNvPr id="12" name="Shape 9"/>
          <p:cNvSpPr/>
          <p:nvPr/>
        </p:nvSpPr>
        <p:spPr>
          <a:xfrm>
            <a:off x="4517136" y="1490472"/>
            <a:ext cx="402336" cy="402336"/>
          </a:xfrm>
          <a:prstGeom prst="roundRect">
            <a:avLst>
              <a:gd name="adj" fmla="val 50000"/>
            </a:avLst>
          </a:prstGeom>
          <a:solidFill>
            <a:srgbClr val="F2A93B"/>
          </a:solidFill>
          <a:ln w="25400">
            <a:solidFill>
              <a:srgbClr val="FFFFFF"/>
            </a:solidFill>
            <a:prstDash val="solid"/>
          </a:ln>
        </p:spPr>
      </p:sp>
      <p:sp>
        <p:nvSpPr>
          <p:cNvPr id="13" name="Text 10"/>
          <p:cNvSpPr/>
          <p:nvPr/>
        </p:nvSpPr>
        <p:spPr>
          <a:xfrm>
            <a:off x="4517136" y="1490472"/>
            <a:ext cx="402336" cy="402336"/>
          </a:xfrm>
          <a:prstGeom prst="rect">
            <a:avLst/>
          </a:prstGeom>
          <a:noFill/>
          <a:ln/>
        </p:spPr>
        <p:txBody>
          <a:bodyPr wrap="square" rtlCol="0" anchor="ctr"/>
          <a:lstStyle/>
          <a:p>
            <a:pPr marL="0" indent="0" algn="ctr">
              <a:buNone/>
            </a:pPr>
            <a:r>
              <a:rPr lang="en-US" sz="1400" b="1" dirty="0">
                <a:solidFill>
                  <a:srgbClr val="0B3D5C"/>
                </a:solidFill>
                <a:latin typeface="Calibri" pitchFamily="34" charset="0"/>
                <a:ea typeface="Calibri" pitchFamily="34" charset="-122"/>
                <a:cs typeface="Calibri" pitchFamily="34" charset="-120"/>
              </a:rPr>
              <a:t>2</a:t>
            </a:r>
            <a:endParaRPr lang="en-US" sz="1400" dirty="0"/>
          </a:p>
        </p:txBody>
      </p:sp>
      <p:sp>
        <p:nvSpPr>
          <p:cNvPr id="14" name="Shape 11"/>
          <p:cNvSpPr/>
          <p:nvPr/>
        </p:nvSpPr>
        <p:spPr>
          <a:xfrm>
            <a:off x="4544568" y="1965960"/>
            <a:ext cx="548640" cy="548640"/>
          </a:xfrm>
          <a:prstGeom prst="ellipse">
            <a:avLst/>
          </a:prstGeom>
          <a:solidFill>
            <a:srgbClr val="1C7293"/>
          </a:solidFill>
          <a:ln/>
        </p:spPr>
      </p:sp>
      <p:pic>
        <p:nvPicPr>
          <p:cNvPr id="15" name="Image 1" descr="/home/claude/pptx_work/icons/laptop.png"/>
          <p:cNvPicPr>
            <a:picLocks noChangeAspect="1"/>
          </p:cNvPicPr>
          <p:nvPr/>
        </p:nvPicPr>
        <p:blipFill>
          <a:blip r:embed="rId4"/>
          <a:stretch>
            <a:fillRect/>
          </a:stretch>
        </p:blipFill>
        <p:spPr>
          <a:xfrm>
            <a:off x="4615891" y="2037283"/>
            <a:ext cx="405994" cy="405994"/>
          </a:xfrm>
          <a:prstGeom prst="rect">
            <a:avLst/>
          </a:prstGeom>
        </p:spPr>
      </p:pic>
      <p:sp>
        <p:nvSpPr>
          <p:cNvPr id="16" name="Text 12"/>
          <p:cNvSpPr/>
          <p:nvPr/>
        </p:nvSpPr>
        <p:spPr>
          <a:xfrm>
            <a:off x="4544568" y="2606040"/>
            <a:ext cx="3154680" cy="365760"/>
          </a:xfrm>
          <a:prstGeom prst="rect">
            <a:avLst/>
          </a:prstGeom>
          <a:noFill/>
          <a:ln/>
        </p:spPr>
        <p:txBody>
          <a:bodyPr wrap="square" rtlCol="0" anchor="ctr"/>
          <a:lstStyle/>
          <a:p>
            <a:pPr marL="0" indent="0">
              <a:buNone/>
            </a:pPr>
            <a:r>
              <a:rPr lang="en-US" sz="1350" b="1" dirty="0">
                <a:solidFill>
                  <a:srgbClr val="0B3D5C"/>
                </a:solidFill>
                <a:latin typeface="Calibri" pitchFamily="34" charset="0"/>
                <a:ea typeface="Calibri" pitchFamily="34" charset="-122"/>
                <a:cs typeface="Calibri" pitchFamily="34" charset="-120"/>
              </a:rPr>
              <a:t>Structured Course</a:t>
            </a:r>
            <a:endParaRPr lang="en-US" sz="1350" dirty="0"/>
          </a:p>
        </p:txBody>
      </p:sp>
      <p:sp>
        <p:nvSpPr>
          <p:cNvPr id="17" name="Text 13"/>
          <p:cNvSpPr/>
          <p:nvPr/>
        </p:nvSpPr>
        <p:spPr>
          <a:xfrm>
            <a:off x="4544568" y="2971800"/>
            <a:ext cx="3154680" cy="82296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Followed a guided course (Udemy) aligned to the exam guide, covering Delta Lake, streaming, DLT, Unity Catalog</a:t>
            </a:r>
            <a:endParaRPr lang="en-US" sz="1050" dirty="0"/>
          </a:p>
        </p:txBody>
      </p:sp>
      <p:sp>
        <p:nvSpPr>
          <p:cNvPr id="18" name="Shape 14"/>
          <p:cNvSpPr/>
          <p:nvPr/>
        </p:nvSpPr>
        <p:spPr>
          <a:xfrm>
            <a:off x="8129016" y="1691640"/>
            <a:ext cx="3611880" cy="2148840"/>
          </a:xfrm>
          <a:prstGeom prst="roundRect">
            <a:avLst>
              <a:gd name="adj" fmla="val 3404"/>
            </a:avLst>
          </a:prstGeom>
          <a:solidFill>
            <a:srgbClr val="EEF3F6"/>
          </a:solidFill>
          <a:ln/>
        </p:spPr>
      </p:sp>
      <p:sp>
        <p:nvSpPr>
          <p:cNvPr id="19" name="Shape 15"/>
          <p:cNvSpPr/>
          <p:nvPr/>
        </p:nvSpPr>
        <p:spPr>
          <a:xfrm>
            <a:off x="8330184" y="1490472"/>
            <a:ext cx="402336" cy="402336"/>
          </a:xfrm>
          <a:prstGeom prst="roundRect">
            <a:avLst>
              <a:gd name="adj" fmla="val 50000"/>
            </a:avLst>
          </a:prstGeom>
          <a:solidFill>
            <a:srgbClr val="F2A93B"/>
          </a:solidFill>
          <a:ln w="25400">
            <a:solidFill>
              <a:srgbClr val="FFFFFF"/>
            </a:solidFill>
            <a:prstDash val="solid"/>
          </a:ln>
        </p:spPr>
      </p:sp>
      <p:sp>
        <p:nvSpPr>
          <p:cNvPr id="20" name="Text 16"/>
          <p:cNvSpPr/>
          <p:nvPr/>
        </p:nvSpPr>
        <p:spPr>
          <a:xfrm>
            <a:off x="8330184" y="1490472"/>
            <a:ext cx="402336" cy="402336"/>
          </a:xfrm>
          <a:prstGeom prst="rect">
            <a:avLst/>
          </a:prstGeom>
          <a:noFill/>
          <a:ln/>
        </p:spPr>
        <p:txBody>
          <a:bodyPr wrap="square" rtlCol="0" anchor="ctr"/>
          <a:lstStyle/>
          <a:p>
            <a:pPr marL="0" indent="0" algn="ctr">
              <a:buNone/>
            </a:pPr>
            <a:r>
              <a:rPr lang="en-US" sz="1400" b="1" dirty="0">
                <a:solidFill>
                  <a:srgbClr val="0B3D5C"/>
                </a:solidFill>
                <a:latin typeface="Calibri" pitchFamily="34" charset="0"/>
                <a:ea typeface="Calibri" pitchFamily="34" charset="-122"/>
                <a:cs typeface="Calibri" pitchFamily="34" charset="-120"/>
              </a:rPr>
              <a:t>3</a:t>
            </a:r>
            <a:endParaRPr lang="en-US" sz="1400" dirty="0"/>
          </a:p>
        </p:txBody>
      </p:sp>
      <p:sp>
        <p:nvSpPr>
          <p:cNvPr id="21" name="Shape 17"/>
          <p:cNvSpPr/>
          <p:nvPr/>
        </p:nvSpPr>
        <p:spPr>
          <a:xfrm>
            <a:off x="8357616" y="1965960"/>
            <a:ext cx="548640" cy="548640"/>
          </a:xfrm>
          <a:prstGeom prst="ellipse">
            <a:avLst/>
          </a:prstGeom>
          <a:solidFill>
            <a:srgbClr val="1C7293"/>
          </a:solidFill>
          <a:ln/>
        </p:spPr>
      </p:sp>
      <p:pic>
        <p:nvPicPr>
          <p:cNvPr id="22" name="Image 2" descr="/home/claude/pptx_work/icons/tools.png"/>
          <p:cNvPicPr>
            <a:picLocks noChangeAspect="1"/>
          </p:cNvPicPr>
          <p:nvPr/>
        </p:nvPicPr>
        <p:blipFill>
          <a:blip r:embed="rId5"/>
          <a:stretch>
            <a:fillRect/>
          </a:stretch>
        </p:blipFill>
        <p:spPr>
          <a:xfrm>
            <a:off x="8428939" y="2037283"/>
            <a:ext cx="405994" cy="405994"/>
          </a:xfrm>
          <a:prstGeom prst="rect">
            <a:avLst/>
          </a:prstGeom>
        </p:spPr>
      </p:pic>
      <p:sp>
        <p:nvSpPr>
          <p:cNvPr id="23" name="Text 18"/>
          <p:cNvSpPr/>
          <p:nvPr/>
        </p:nvSpPr>
        <p:spPr>
          <a:xfrm>
            <a:off x="8357616" y="2606040"/>
            <a:ext cx="3154680" cy="365760"/>
          </a:xfrm>
          <a:prstGeom prst="rect">
            <a:avLst/>
          </a:prstGeom>
          <a:noFill/>
          <a:ln/>
        </p:spPr>
        <p:txBody>
          <a:bodyPr wrap="square" rtlCol="0" anchor="ctr"/>
          <a:lstStyle/>
          <a:p>
            <a:pPr marL="0" indent="0">
              <a:buNone/>
            </a:pPr>
            <a:r>
              <a:rPr lang="en-US" sz="1350" b="1" dirty="0">
                <a:solidFill>
                  <a:srgbClr val="0B3D5C"/>
                </a:solidFill>
                <a:latin typeface="Calibri" pitchFamily="34" charset="0"/>
                <a:ea typeface="Calibri" pitchFamily="34" charset="-122"/>
                <a:cs typeface="Calibri" pitchFamily="34" charset="-120"/>
              </a:rPr>
              <a:t>Hands-On Rebuild</a:t>
            </a:r>
            <a:endParaRPr lang="en-US" sz="1350" dirty="0"/>
          </a:p>
        </p:txBody>
      </p:sp>
      <p:sp>
        <p:nvSpPr>
          <p:cNvPr id="24" name="Text 19"/>
          <p:cNvSpPr/>
          <p:nvPr/>
        </p:nvSpPr>
        <p:spPr>
          <a:xfrm>
            <a:off x="8357616" y="2971800"/>
            <a:ext cx="3154680" cy="82296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Rebuilt every demo pipeline myself in a Databricks workspace — this drove retention far more than watching videos</a:t>
            </a:r>
            <a:endParaRPr lang="en-US" sz="1050" dirty="0"/>
          </a:p>
        </p:txBody>
      </p:sp>
      <p:sp>
        <p:nvSpPr>
          <p:cNvPr id="25" name="Shape 20"/>
          <p:cNvSpPr/>
          <p:nvPr/>
        </p:nvSpPr>
        <p:spPr>
          <a:xfrm>
            <a:off x="502920" y="4023360"/>
            <a:ext cx="3611880" cy="2148840"/>
          </a:xfrm>
          <a:prstGeom prst="roundRect">
            <a:avLst>
              <a:gd name="adj" fmla="val 3404"/>
            </a:avLst>
          </a:prstGeom>
          <a:solidFill>
            <a:srgbClr val="EEF3F6"/>
          </a:solidFill>
          <a:ln/>
        </p:spPr>
      </p:sp>
      <p:sp>
        <p:nvSpPr>
          <p:cNvPr id="26" name="Shape 21"/>
          <p:cNvSpPr/>
          <p:nvPr/>
        </p:nvSpPr>
        <p:spPr>
          <a:xfrm>
            <a:off x="704088" y="3822192"/>
            <a:ext cx="402336" cy="402336"/>
          </a:xfrm>
          <a:prstGeom prst="roundRect">
            <a:avLst>
              <a:gd name="adj" fmla="val 50000"/>
            </a:avLst>
          </a:prstGeom>
          <a:solidFill>
            <a:srgbClr val="F2A93B"/>
          </a:solidFill>
          <a:ln w="25400">
            <a:solidFill>
              <a:srgbClr val="FFFFFF"/>
            </a:solidFill>
            <a:prstDash val="solid"/>
          </a:ln>
        </p:spPr>
      </p:sp>
      <p:sp>
        <p:nvSpPr>
          <p:cNvPr id="27" name="Text 22"/>
          <p:cNvSpPr/>
          <p:nvPr/>
        </p:nvSpPr>
        <p:spPr>
          <a:xfrm>
            <a:off x="704088" y="3822192"/>
            <a:ext cx="402336" cy="402336"/>
          </a:xfrm>
          <a:prstGeom prst="rect">
            <a:avLst/>
          </a:prstGeom>
          <a:noFill/>
          <a:ln/>
        </p:spPr>
        <p:txBody>
          <a:bodyPr wrap="square" rtlCol="0" anchor="ctr"/>
          <a:lstStyle/>
          <a:p>
            <a:pPr marL="0" indent="0" algn="ctr">
              <a:buNone/>
            </a:pPr>
            <a:r>
              <a:rPr lang="en-US" sz="1400" b="1" dirty="0">
                <a:solidFill>
                  <a:srgbClr val="0B3D5C"/>
                </a:solidFill>
                <a:latin typeface="Calibri" pitchFamily="34" charset="0"/>
                <a:ea typeface="Calibri" pitchFamily="34" charset="-122"/>
                <a:cs typeface="Calibri" pitchFamily="34" charset="-120"/>
              </a:rPr>
              <a:t>4</a:t>
            </a:r>
            <a:endParaRPr lang="en-US" sz="1400" dirty="0"/>
          </a:p>
        </p:txBody>
      </p:sp>
      <p:sp>
        <p:nvSpPr>
          <p:cNvPr id="28" name="Shape 23"/>
          <p:cNvSpPr/>
          <p:nvPr/>
        </p:nvSpPr>
        <p:spPr>
          <a:xfrm>
            <a:off x="731520" y="4297680"/>
            <a:ext cx="548640" cy="548640"/>
          </a:xfrm>
          <a:prstGeom prst="ellipse">
            <a:avLst/>
          </a:prstGeom>
          <a:solidFill>
            <a:srgbClr val="1C7293"/>
          </a:solidFill>
          <a:ln/>
        </p:spPr>
      </p:sp>
      <p:pic>
        <p:nvPicPr>
          <p:cNvPr id="29" name="Image 3" descr="/home/claude/pptx_work/icons/clipboard.png"/>
          <p:cNvPicPr>
            <a:picLocks noChangeAspect="1"/>
          </p:cNvPicPr>
          <p:nvPr/>
        </p:nvPicPr>
        <p:blipFill>
          <a:blip r:embed="rId6"/>
          <a:stretch>
            <a:fillRect/>
          </a:stretch>
        </p:blipFill>
        <p:spPr>
          <a:xfrm>
            <a:off x="802843" y="4369003"/>
            <a:ext cx="405994" cy="405994"/>
          </a:xfrm>
          <a:prstGeom prst="rect">
            <a:avLst/>
          </a:prstGeom>
        </p:spPr>
      </p:pic>
      <p:sp>
        <p:nvSpPr>
          <p:cNvPr id="30" name="Text 24"/>
          <p:cNvSpPr/>
          <p:nvPr/>
        </p:nvSpPr>
        <p:spPr>
          <a:xfrm>
            <a:off x="731520" y="4937760"/>
            <a:ext cx="3154680" cy="365760"/>
          </a:xfrm>
          <a:prstGeom prst="rect">
            <a:avLst/>
          </a:prstGeom>
          <a:noFill/>
          <a:ln/>
        </p:spPr>
        <p:txBody>
          <a:bodyPr wrap="square" rtlCol="0" anchor="ctr"/>
          <a:lstStyle/>
          <a:p>
            <a:pPr marL="0" indent="0">
              <a:buNone/>
            </a:pPr>
            <a:r>
              <a:rPr lang="en-US" sz="1350" b="1" dirty="0">
                <a:solidFill>
                  <a:srgbClr val="0B3D5C"/>
                </a:solidFill>
                <a:latin typeface="Calibri" pitchFamily="34" charset="0"/>
                <a:ea typeface="Calibri" pitchFamily="34" charset="-122"/>
                <a:cs typeface="Calibri" pitchFamily="34" charset="-120"/>
              </a:rPr>
              <a:t>Docs as Source of Truth</a:t>
            </a:r>
            <a:endParaRPr lang="en-US" sz="1350" dirty="0"/>
          </a:p>
        </p:txBody>
      </p:sp>
      <p:sp>
        <p:nvSpPr>
          <p:cNvPr id="31" name="Text 25"/>
          <p:cNvSpPr/>
          <p:nvPr/>
        </p:nvSpPr>
        <p:spPr>
          <a:xfrm>
            <a:off x="731520" y="5303520"/>
            <a:ext cx="3154680" cy="82296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Used official Databricks documentation for anything unclear — exam questions mirror doc language closely</a:t>
            </a:r>
            <a:endParaRPr lang="en-US" sz="1050" dirty="0"/>
          </a:p>
        </p:txBody>
      </p:sp>
      <p:sp>
        <p:nvSpPr>
          <p:cNvPr id="32" name="Shape 26"/>
          <p:cNvSpPr/>
          <p:nvPr/>
        </p:nvSpPr>
        <p:spPr>
          <a:xfrm>
            <a:off x="4315968" y="4023360"/>
            <a:ext cx="3611880" cy="2148840"/>
          </a:xfrm>
          <a:prstGeom prst="roundRect">
            <a:avLst>
              <a:gd name="adj" fmla="val 3404"/>
            </a:avLst>
          </a:prstGeom>
          <a:solidFill>
            <a:srgbClr val="EEF3F6"/>
          </a:solidFill>
          <a:ln/>
        </p:spPr>
      </p:sp>
      <p:sp>
        <p:nvSpPr>
          <p:cNvPr id="33" name="Shape 27"/>
          <p:cNvSpPr/>
          <p:nvPr/>
        </p:nvSpPr>
        <p:spPr>
          <a:xfrm>
            <a:off x="4517136" y="3822192"/>
            <a:ext cx="402336" cy="402336"/>
          </a:xfrm>
          <a:prstGeom prst="roundRect">
            <a:avLst>
              <a:gd name="adj" fmla="val 50000"/>
            </a:avLst>
          </a:prstGeom>
          <a:solidFill>
            <a:srgbClr val="F2A93B"/>
          </a:solidFill>
          <a:ln w="25400">
            <a:solidFill>
              <a:srgbClr val="FFFFFF"/>
            </a:solidFill>
            <a:prstDash val="solid"/>
          </a:ln>
        </p:spPr>
      </p:sp>
      <p:sp>
        <p:nvSpPr>
          <p:cNvPr id="34" name="Text 28"/>
          <p:cNvSpPr/>
          <p:nvPr/>
        </p:nvSpPr>
        <p:spPr>
          <a:xfrm>
            <a:off x="4517136" y="3822192"/>
            <a:ext cx="402336" cy="402336"/>
          </a:xfrm>
          <a:prstGeom prst="rect">
            <a:avLst/>
          </a:prstGeom>
          <a:noFill/>
          <a:ln/>
        </p:spPr>
        <p:txBody>
          <a:bodyPr wrap="square" rtlCol="0" anchor="ctr"/>
          <a:lstStyle/>
          <a:p>
            <a:pPr marL="0" indent="0" algn="ctr">
              <a:buNone/>
            </a:pPr>
            <a:r>
              <a:rPr lang="en-US" sz="1400" b="1" dirty="0">
                <a:solidFill>
                  <a:srgbClr val="0B3D5C"/>
                </a:solidFill>
                <a:latin typeface="Calibri" pitchFamily="34" charset="0"/>
                <a:ea typeface="Calibri" pitchFamily="34" charset="-122"/>
                <a:cs typeface="Calibri" pitchFamily="34" charset="-120"/>
              </a:rPr>
              <a:t>5</a:t>
            </a:r>
            <a:endParaRPr lang="en-US" sz="1400" dirty="0"/>
          </a:p>
        </p:txBody>
      </p:sp>
      <p:sp>
        <p:nvSpPr>
          <p:cNvPr id="35" name="Shape 29"/>
          <p:cNvSpPr/>
          <p:nvPr/>
        </p:nvSpPr>
        <p:spPr>
          <a:xfrm>
            <a:off x="4544568" y="4297680"/>
            <a:ext cx="548640" cy="548640"/>
          </a:xfrm>
          <a:prstGeom prst="ellipse">
            <a:avLst/>
          </a:prstGeom>
          <a:solidFill>
            <a:srgbClr val="1C7293"/>
          </a:solidFill>
          <a:ln/>
        </p:spPr>
      </p:sp>
      <p:pic>
        <p:nvPicPr>
          <p:cNvPr id="36" name="Image 4" descr="/home/claude/pptx_work/icons/question.png"/>
          <p:cNvPicPr>
            <a:picLocks noChangeAspect="1"/>
          </p:cNvPicPr>
          <p:nvPr/>
        </p:nvPicPr>
        <p:blipFill>
          <a:blip r:embed="rId7"/>
          <a:stretch>
            <a:fillRect/>
          </a:stretch>
        </p:blipFill>
        <p:spPr>
          <a:xfrm>
            <a:off x="4615891" y="4369003"/>
            <a:ext cx="405994" cy="405994"/>
          </a:xfrm>
          <a:prstGeom prst="rect">
            <a:avLst/>
          </a:prstGeom>
        </p:spPr>
      </p:pic>
      <p:sp>
        <p:nvSpPr>
          <p:cNvPr id="37" name="Text 30"/>
          <p:cNvSpPr/>
          <p:nvPr/>
        </p:nvSpPr>
        <p:spPr>
          <a:xfrm>
            <a:off x="4544568" y="4937760"/>
            <a:ext cx="3154680" cy="365760"/>
          </a:xfrm>
          <a:prstGeom prst="rect">
            <a:avLst/>
          </a:prstGeom>
          <a:noFill/>
          <a:ln/>
        </p:spPr>
        <p:txBody>
          <a:bodyPr wrap="square" rtlCol="0" anchor="ctr"/>
          <a:lstStyle/>
          <a:p>
            <a:pPr marL="0" indent="0">
              <a:buNone/>
            </a:pPr>
            <a:r>
              <a:rPr lang="en-US" sz="1350" b="1" dirty="0">
                <a:solidFill>
                  <a:srgbClr val="0B3D5C"/>
                </a:solidFill>
                <a:latin typeface="Calibri" pitchFamily="34" charset="0"/>
                <a:ea typeface="Calibri" pitchFamily="34" charset="-122"/>
                <a:cs typeface="Calibri" pitchFamily="34" charset="-120"/>
              </a:rPr>
              <a:t>Timed Practice Tests</a:t>
            </a:r>
            <a:endParaRPr lang="en-US" sz="1350" dirty="0"/>
          </a:p>
        </p:txBody>
      </p:sp>
      <p:sp>
        <p:nvSpPr>
          <p:cNvPr id="38" name="Text 31"/>
          <p:cNvSpPr/>
          <p:nvPr/>
        </p:nvSpPr>
        <p:spPr>
          <a:xfrm>
            <a:off x="4544568" y="5303520"/>
            <a:ext cx="3154680" cy="82296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2-3 full-length mock exams under timed conditions, reviewing every wrong answer against documentation</a:t>
            </a:r>
            <a:endParaRPr lang="en-US" sz="1050" dirty="0"/>
          </a:p>
        </p:txBody>
      </p:sp>
      <p:sp>
        <p:nvSpPr>
          <p:cNvPr id="39" name="Shape 32"/>
          <p:cNvSpPr/>
          <p:nvPr/>
        </p:nvSpPr>
        <p:spPr>
          <a:xfrm>
            <a:off x="8129016" y="4023360"/>
            <a:ext cx="3611880" cy="2148840"/>
          </a:xfrm>
          <a:prstGeom prst="roundRect">
            <a:avLst>
              <a:gd name="adj" fmla="val 3404"/>
            </a:avLst>
          </a:prstGeom>
          <a:solidFill>
            <a:srgbClr val="EEF3F6"/>
          </a:solidFill>
          <a:ln/>
        </p:spPr>
      </p:sp>
      <p:sp>
        <p:nvSpPr>
          <p:cNvPr id="40" name="Shape 33"/>
          <p:cNvSpPr/>
          <p:nvPr/>
        </p:nvSpPr>
        <p:spPr>
          <a:xfrm>
            <a:off x="8330184" y="3822192"/>
            <a:ext cx="402336" cy="402336"/>
          </a:xfrm>
          <a:prstGeom prst="roundRect">
            <a:avLst>
              <a:gd name="adj" fmla="val 50000"/>
            </a:avLst>
          </a:prstGeom>
          <a:solidFill>
            <a:srgbClr val="F2A93B"/>
          </a:solidFill>
          <a:ln w="25400">
            <a:solidFill>
              <a:srgbClr val="FFFFFF"/>
            </a:solidFill>
            <a:prstDash val="solid"/>
          </a:ln>
        </p:spPr>
      </p:sp>
      <p:sp>
        <p:nvSpPr>
          <p:cNvPr id="41" name="Text 34"/>
          <p:cNvSpPr/>
          <p:nvPr/>
        </p:nvSpPr>
        <p:spPr>
          <a:xfrm>
            <a:off x="8330184" y="3822192"/>
            <a:ext cx="402336" cy="402336"/>
          </a:xfrm>
          <a:prstGeom prst="rect">
            <a:avLst/>
          </a:prstGeom>
          <a:noFill/>
          <a:ln/>
        </p:spPr>
        <p:txBody>
          <a:bodyPr wrap="square" rtlCol="0" anchor="ctr"/>
          <a:lstStyle/>
          <a:p>
            <a:pPr marL="0" indent="0" algn="ctr">
              <a:buNone/>
            </a:pPr>
            <a:r>
              <a:rPr lang="en-US" sz="1400" b="1" dirty="0">
                <a:solidFill>
                  <a:srgbClr val="0B3D5C"/>
                </a:solidFill>
                <a:latin typeface="Calibri" pitchFamily="34" charset="0"/>
                <a:ea typeface="Calibri" pitchFamily="34" charset="-122"/>
                <a:cs typeface="Calibri" pitchFamily="34" charset="-120"/>
              </a:rPr>
              <a:t>6</a:t>
            </a:r>
            <a:endParaRPr lang="en-US" sz="1400" dirty="0"/>
          </a:p>
        </p:txBody>
      </p:sp>
      <p:sp>
        <p:nvSpPr>
          <p:cNvPr id="42" name="Shape 35"/>
          <p:cNvSpPr/>
          <p:nvPr/>
        </p:nvSpPr>
        <p:spPr>
          <a:xfrm>
            <a:off x="8357616" y="4297680"/>
            <a:ext cx="548640" cy="548640"/>
          </a:xfrm>
          <a:prstGeom prst="ellipse">
            <a:avLst/>
          </a:prstGeom>
          <a:solidFill>
            <a:srgbClr val="1C7293"/>
          </a:solidFill>
          <a:ln/>
        </p:spPr>
      </p:sp>
      <p:pic>
        <p:nvPicPr>
          <p:cNvPr id="43" name="Image 5" descr="/home/claude/pptx_work/icons/check.png"/>
          <p:cNvPicPr>
            <a:picLocks noChangeAspect="1"/>
          </p:cNvPicPr>
          <p:nvPr/>
        </p:nvPicPr>
        <p:blipFill>
          <a:blip r:embed="rId8"/>
          <a:stretch>
            <a:fillRect/>
          </a:stretch>
        </p:blipFill>
        <p:spPr>
          <a:xfrm>
            <a:off x="8428939" y="4369003"/>
            <a:ext cx="405994" cy="405994"/>
          </a:xfrm>
          <a:prstGeom prst="rect">
            <a:avLst/>
          </a:prstGeom>
        </p:spPr>
      </p:pic>
      <p:sp>
        <p:nvSpPr>
          <p:cNvPr id="44" name="Text 36"/>
          <p:cNvSpPr/>
          <p:nvPr/>
        </p:nvSpPr>
        <p:spPr>
          <a:xfrm>
            <a:off x="8357616" y="4937760"/>
            <a:ext cx="3154680" cy="365760"/>
          </a:xfrm>
          <a:prstGeom prst="rect">
            <a:avLst/>
          </a:prstGeom>
          <a:noFill/>
          <a:ln/>
        </p:spPr>
        <p:txBody>
          <a:bodyPr wrap="square" rtlCol="0" anchor="ctr"/>
          <a:lstStyle/>
          <a:p>
            <a:pPr marL="0" indent="0">
              <a:buNone/>
            </a:pPr>
            <a:r>
              <a:rPr lang="en-US" sz="1350" b="1" dirty="0">
                <a:solidFill>
                  <a:srgbClr val="0B3D5C"/>
                </a:solidFill>
                <a:latin typeface="Calibri" pitchFamily="34" charset="0"/>
                <a:ea typeface="Calibri" pitchFamily="34" charset="-122"/>
                <a:cs typeface="Calibri" pitchFamily="34" charset="-120"/>
              </a:rPr>
              <a:t>Final Revision</a:t>
            </a:r>
            <a:endParaRPr lang="en-US" sz="1350" dirty="0"/>
          </a:p>
        </p:txBody>
      </p:sp>
      <p:sp>
        <p:nvSpPr>
          <p:cNvPr id="45" name="Text 37"/>
          <p:cNvSpPr/>
          <p:nvPr/>
        </p:nvSpPr>
        <p:spPr>
          <a:xfrm>
            <a:off x="8357616" y="5303520"/>
            <a:ext cx="3154680" cy="82296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Built a one-page cheat sheet per domain in the last few days instead of re-watching content</a:t>
            </a:r>
            <a:endParaRPr lang="en-US" sz="1050" dirty="0"/>
          </a:p>
        </p:txBody>
      </p:sp>
      <p:sp>
        <p:nvSpPr>
          <p:cNvPr id="46" name="Text 38"/>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47" name="Text 3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THE SYLLABUS</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Seven Areas That Carry the Most Weight</a:t>
            </a:r>
            <a:endParaRPr lang="en-US" sz="3000" dirty="0"/>
          </a:p>
        </p:txBody>
      </p:sp>
      <p:sp>
        <p:nvSpPr>
          <p:cNvPr id="4" name="Shape 2"/>
          <p:cNvSpPr/>
          <p:nvPr/>
        </p:nvSpPr>
        <p:spPr>
          <a:xfrm>
            <a:off x="425196" y="1783080"/>
            <a:ext cx="2697480" cy="2148840"/>
          </a:xfrm>
          <a:prstGeom prst="roundRect">
            <a:avLst>
              <a:gd name="adj" fmla="val 3404"/>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5" name="Shape 3"/>
          <p:cNvSpPr/>
          <p:nvPr/>
        </p:nvSpPr>
        <p:spPr>
          <a:xfrm>
            <a:off x="1408176" y="2075688"/>
            <a:ext cx="731520" cy="731520"/>
          </a:xfrm>
          <a:prstGeom prst="ellipse">
            <a:avLst/>
          </a:prstGeom>
          <a:solidFill>
            <a:srgbClr val="0B3D5C"/>
          </a:solidFill>
          <a:ln/>
        </p:spPr>
      </p:sp>
      <p:pic>
        <p:nvPicPr>
          <p:cNvPr id="6" name="Image 0" descr="/home/claude/pptx_work/icons/database.png"/>
          <p:cNvPicPr>
            <a:picLocks noChangeAspect="1"/>
          </p:cNvPicPr>
          <p:nvPr/>
        </p:nvPicPr>
        <p:blipFill>
          <a:blip r:embed="rId3"/>
          <a:stretch>
            <a:fillRect/>
          </a:stretch>
        </p:blipFill>
        <p:spPr>
          <a:xfrm>
            <a:off x="1503274" y="2170786"/>
            <a:ext cx="541325" cy="541325"/>
          </a:xfrm>
          <a:prstGeom prst="rect">
            <a:avLst/>
          </a:prstGeom>
        </p:spPr>
      </p:pic>
      <p:sp>
        <p:nvSpPr>
          <p:cNvPr id="7" name="Text 4"/>
          <p:cNvSpPr/>
          <p:nvPr/>
        </p:nvSpPr>
        <p:spPr>
          <a:xfrm>
            <a:off x="562356" y="2971800"/>
            <a:ext cx="2423160" cy="822960"/>
          </a:xfrm>
          <a:prstGeom prst="rect">
            <a:avLst/>
          </a:prstGeom>
          <a:noFill/>
          <a:ln/>
        </p:spPr>
        <p:txBody>
          <a:bodyPr wrap="square" rtlCol="0" anchor="t"/>
          <a:lstStyle/>
          <a:p>
            <a:pPr marL="0" indent="0" algn="ctr">
              <a:buNone/>
            </a:pPr>
            <a:r>
              <a:rPr lang="en-US" sz="1250" b="1" dirty="0">
                <a:solidFill>
                  <a:srgbClr val="0B3D5C"/>
                </a:solidFill>
                <a:latin typeface="Calibri" pitchFamily="34" charset="0"/>
                <a:ea typeface="Calibri" pitchFamily="34" charset="-122"/>
                <a:cs typeface="Calibri" pitchFamily="34" charset="-120"/>
              </a:rPr>
              <a:t>Delta Lake Internals</a:t>
            </a:r>
            <a:endParaRPr lang="en-US" sz="1250" dirty="0"/>
          </a:p>
        </p:txBody>
      </p:sp>
      <p:sp>
        <p:nvSpPr>
          <p:cNvPr id="8" name="Shape 5"/>
          <p:cNvSpPr/>
          <p:nvPr/>
        </p:nvSpPr>
        <p:spPr>
          <a:xfrm>
            <a:off x="3305556" y="1783080"/>
            <a:ext cx="2697480" cy="2148840"/>
          </a:xfrm>
          <a:prstGeom prst="roundRect">
            <a:avLst>
              <a:gd name="adj" fmla="val 3404"/>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9" name="Shape 6"/>
          <p:cNvSpPr/>
          <p:nvPr/>
        </p:nvSpPr>
        <p:spPr>
          <a:xfrm>
            <a:off x="4288536" y="2075688"/>
            <a:ext cx="731520" cy="731520"/>
          </a:xfrm>
          <a:prstGeom prst="ellipse">
            <a:avLst/>
          </a:prstGeom>
          <a:solidFill>
            <a:srgbClr val="1C7293"/>
          </a:solidFill>
          <a:ln/>
        </p:spPr>
      </p:sp>
      <p:pic>
        <p:nvPicPr>
          <p:cNvPr id="10" name="Image 1" descr="/home/claude/pptx_work/icons/water.png"/>
          <p:cNvPicPr>
            <a:picLocks noChangeAspect="1"/>
          </p:cNvPicPr>
          <p:nvPr/>
        </p:nvPicPr>
        <p:blipFill>
          <a:blip r:embed="rId4"/>
          <a:stretch>
            <a:fillRect/>
          </a:stretch>
        </p:blipFill>
        <p:spPr>
          <a:xfrm>
            <a:off x="4383634" y="2170786"/>
            <a:ext cx="541325" cy="541325"/>
          </a:xfrm>
          <a:prstGeom prst="rect">
            <a:avLst/>
          </a:prstGeom>
        </p:spPr>
      </p:pic>
      <p:sp>
        <p:nvSpPr>
          <p:cNvPr id="11" name="Text 7"/>
          <p:cNvSpPr/>
          <p:nvPr/>
        </p:nvSpPr>
        <p:spPr>
          <a:xfrm>
            <a:off x="3442716" y="2971800"/>
            <a:ext cx="2423160" cy="822960"/>
          </a:xfrm>
          <a:prstGeom prst="rect">
            <a:avLst/>
          </a:prstGeom>
          <a:noFill/>
          <a:ln/>
        </p:spPr>
        <p:txBody>
          <a:bodyPr wrap="square" rtlCol="0" anchor="t"/>
          <a:lstStyle/>
          <a:p>
            <a:pPr marL="0" indent="0" algn="ctr">
              <a:buNone/>
            </a:pPr>
            <a:r>
              <a:rPr lang="en-US" sz="1250" b="1" dirty="0">
                <a:solidFill>
                  <a:srgbClr val="0B3D5C"/>
                </a:solidFill>
                <a:latin typeface="Calibri" pitchFamily="34" charset="0"/>
                <a:ea typeface="Calibri" pitchFamily="34" charset="-122"/>
                <a:cs typeface="Calibri" pitchFamily="34" charset="-120"/>
              </a:rPr>
              <a:t>Structured Streaming &amp; Auto Loader</a:t>
            </a:r>
            <a:endParaRPr lang="en-US" sz="1250" dirty="0"/>
          </a:p>
        </p:txBody>
      </p:sp>
      <p:sp>
        <p:nvSpPr>
          <p:cNvPr id="12" name="Shape 8"/>
          <p:cNvSpPr/>
          <p:nvPr/>
        </p:nvSpPr>
        <p:spPr>
          <a:xfrm>
            <a:off x="6185916" y="1783080"/>
            <a:ext cx="2697480" cy="2148840"/>
          </a:xfrm>
          <a:prstGeom prst="roundRect">
            <a:avLst>
              <a:gd name="adj" fmla="val 3404"/>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13" name="Shape 9"/>
          <p:cNvSpPr/>
          <p:nvPr/>
        </p:nvSpPr>
        <p:spPr>
          <a:xfrm>
            <a:off x="7168896" y="2075688"/>
            <a:ext cx="731520" cy="731520"/>
          </a:xfrm>
          <a:prstGeom prst="ellipse">
            <a:avLst/>
          </a:prstGeom>
          <a:solidFill>
            <a:srgbClr val="0B3D5C"/>
          </a:solidFill>
          <a:ln/>
        </p:spPr>
      </p:sp>
      <p:pic>
        <p:nvPicPr>
          <p:cNvPr id="14" name="Image 2" descr="/home/claude/pptx_work/icons/layers.png"/>
          <p:cNvPicPr>
            <a:picLocks noChangeAspect="1"/>
          </p:cNvPicPr>
          <p:nvPr/>
        </p:nvPicPr>
        <p:blipFill>
          <a:blip r:embed="rId5"/>
          <a:stretch>
            <a:fillRect/>
          </a:stretch>
        </p:blipFill>
        <p:spPr>
          <a:xfrm>
            <a:off x="7263994" y="2170786"/>
            <a:ext cx="541325" cy="541325"/>
          </a:xfrm>
          <a:prstGeom prst="rect">
            <a:avLst/>
          </a:prstGeom>
        </p:spPr>
      </p:pic>
      <p:sp>
        <p:nvSpPr>
          <p:cNvPr id="15" name="Text 10"/>
          <p:cNvSpPr/>
          <p:nvPr/>
        </p:nvSpPr>
        <p:spPr>
          <a:xfrm>
            <a:off x="6323076" y="2971800"/>
            <a:ext cx="2423160" cy="822960"/>
          </a:xfrm>
          <a:prstGeom prst="rect">
            <a:avLst/>
          </a:prstGeom>
          <a:noFill/>
          <a:ln/>
        </p:spPr>
        <p:txBody>
          <a:bodyPr wrap="square" rtlCol="0" anchor="t"/>
          <a:lstStyle/>
          <a:p>
            <a:pPr marL="0" indent="0" algn="ctr">
              <a:buNone/>
            </a:pPr>
            <a:r>
              <a:rPr lang="en-US" sz="1250" b="1" dirty="0">
                <a:solidFill>
                  <a:srgbClr val="0B3D5C"/>
                </a:solidFill>
                <a:latin typeface="Calibri" pitchFamily="34" charset="0"/>
                <a:ea typeface="Calibri" pitchFamily="34" charset="-122"/>
                <a:cs typeface="Calibri" pitchFamily="34" charset="-120"/>
              </a:rPr>
              <a:t>Medallion Architecture &amp; Modelling</a:t>
            </a:r>
            <a:endParaRPr lang="en-US" sz="1250" dirty="0"/>
          </a:p>
        </p:txBody>
      </p:sp>
      <p:sp>
        <p:nvSpPr>
          <p:cNvPr id="16" name="Shape 11"/>
          <p:cNvSpPr/>
          <p:nvPr/>
        </p:nvSpPr>
        <p:spPr>
          <a:xfrm>
            <a:off x="9066276" y="1783080"/>
            <a:ext cx="2697480" cy="2148840"/>
          </a:xfrm>
          <a:prstGeom prst="roundRect">
            <a:avLst>
              <a:gd name="adj" fmla="val 3404"/>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17" name="Shape 12"/>
          <p:cNvSpPr/>
          <p:nvPr/>
        </p:nvSpPr>
        <p:spPr>
          <a:xfrm>
            <a:off x="10049256" y="2075688"/>
            <a:ext cx="731520" cy="731520"/>
          </a:xfrm>
          <a:prstGeom prst="ellipse">
            <a:avLst/>
          </a:prstGeom>
          <a:solidFill>
            <a:srgbClr val="1C7293"/>
          </a:solidFill>
          <a:ln/>
        </p:spPr>
      </p:sp>
      <p:pic>
        <p:nvPicPr>
          <p:cNvPr id="18" name="Image 3" descr="/home/claude/pptx_work/icons/project.png"/>
          <p:cNvPicPr>
            <a:picLocks noChangeAspect="1"/>
          </p:cNvPicPr>
          <p:nvPr/>
        </p:nvPicPr>
        <p:blipFill>
          <a:blip r:embed="rId6"/>
          <a:stretch>
            <a:fillRect/>
          </a:stretch>
        </p:blipFill>
        <p:spPr>
          <a:xfrm>
            <a:off x="10144354" y="2170786"/>
            <a:ext cx="541325" cy="541325"/>
          </a:xfrm>
          <a:prstGeom prst="rect">
            <a:avLst/>
          </a:prstGeom>
        </p:spPr>
      </p:pic>
      <p:sp>
        <p:nvSpPr>
          <p:cNvPr id="19" name="Text 13"/>
          <p:cNvSpPr/>
          <p:nvPr/>
        </p:nvSpPr>
        <p:spPr>
          <a:xfrm>
            <a:off x="9203436" y="2971800"/>
            <a:ext cx="2423160" cy="822960"/>
          </a:xfrm>
          <a:prstGeom prst="rect">
            <a:avLst/>
          </a:prstGeom>
          <a:noFill/>
          <a:ln/>
        </p:spPr>
        <p:txBody>
          <a:bodyPr wrap="square" rtlCol="0" anchor="t"/>
          <a:lstStyle/>
          <a:p>
            <a:pPr marL="0" indent="0" algn="ctr">
              <a:buNone/>
            </a:pPr>
            <a:r>
              <a:rPr lang="en-US" sz="1250" b="1" dirty="0">
                <a:solidFill>
                  <a:srgbClr val="0B3D5C"/>
                </a:solidFill>
                <a:latin typeface="Calibri" pitchFamily="34" charset="0"/>
                <a:ea typeface="Calibri" pitchFamily="34" charset="-122"/>
                <a:cs typeface="Calibri" pitchFamily="34" charset="-120"/>
              </a:rPr>
              <a:t>Lakeflow / DLT Pipelines</a:t>
            </a:r>
            <a:endParaRPr lang="en-US" sz="1250" dirty="0"/>
          </a:p>
        </p:txBody>
      </p:sp>
      <p:sp>
        <p:nvSpPr>
          <p:cNvPr id="20" name="Shape 14"/>
          <p:cNvSpPr/>
          <p:nvPr/>
        </p:nvSpPr>
        <p:spPr>
          <a:xfrm>
            <a:off x="425196" y="4251960"/>
            <a:ext cx="2697480" cy="2148840"/>
          </a:xfrm>
          <a:prstGeom prst="roundRect">
            <a:avLst>
              <a:gd name="adj" fmla="val 3404"/>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21" name="Shape 15"/>
          <p:cNvSpPr/>
          <p:nvPr/>
        </p:nvSpPr>
        <p:spPr>
          <a:xfrm>
            <a:off x="1408176" y="4544568"/>
            <a:ext cx="731520" cy="731520"/>
          </a:xfrm>
          <a:prstGeom prst="ellipse">
            <a:avLst/>
          </a:prstGeom>
          <a:solidFill>
            <a:srgbClr val="0B3D5C"/>
          </a:solidFill>
          <a:ln/>
        </p:spPr>
      </p:sp>
      <p:pic>
        <p:nvPicPr>
          <p:cNvPr id="22" name="Image 4" descr="/home/claude/pptx_work/icons/tools.png"/>
          <p:cNvPicPr>
            <a:picLocks noChangeAspect="1"/>
          </p:cNvPicPr>
          <p:nvPr/>
        </p:nvPicPr>
        <p:blipFill>
          <a:blip r:embed="rId7"/>
          <a:stretch>
            <a:fillRect/>
          </a:stretch>
        </p:blipFill>
        <p:spPr>
          <a:xfrm>
            <a:off x="1503274" y="4639666"/>
            <a:ext cx="541325" cy="541325"/>
          </a:xfrm>
          <a:prstGeom prst="rect">
            <a:avLst/>
          </a:prstGeom>
        </p:spPr>
      </p:pic>
      <p:sp>
        <p:nvSpPr>
          <p:cNvPr id="23" name="Text 16"/>
          <p:cNvSpPr/>
          <p:nvPr/>
        </p:nvSpPr>
        <p:spPr>
          <a:xfrm>
            <a:off x="562356" y="5440680"/>
            <a:ext cx="2423160" cy="822960"/>
          </a:xfrm>
          <a:prstGeom prst="rect">
            <a:avLst/>
          </a:prstGeom>
          <a:noFill/>
          <a:ln/>
        </p:spPr>
        <p:txBody>
          <a:bodyPr wrap="square" rtlCol="0" anchor="t"/>
          <a:lstStyle/>
          <a:p>
            <a:pPr marL="0" indent="0" algn="ctr">
              <a:buNone/>
            </a:pPr>
            <a:r>
              <a:rPr lang="en-US" sz="1250" b="1" dirty="0">
                <a:solidFill>
                  <a:srgbClr val="0B3D5C"/>
                </a:solidFill>
                <a:latin typeface="Calibri" pitchFamily="34" charset="0"/>
                <a:ea typeface="Calibri" pitchFamily="34" charset="-122"/>
                <a:cs typeface="Calibri" pitchFamily="34" charset="-120"/>
              </a:rPr>
              <a:t>Orchestration, Deploy &amp; Debug</a:t>
            </a:r>
            <a:endParaRPr lang="en-US" sz="1250" dirty="0"/>
          </a:p>
        </p:txBody>
      </p:sp>
      <p:sp>
        <p:nvSpPr>
          <p:cNvPr id="24" name="Shape 17"/>
          <p:cNvSpPr/>
          <p:nvPr/>
        </p:nvSpPr>
        <p:spPr>
          <a:xfrm>
            <a:off x="3305556" y="4251960"/>
            <a:ext cx="2697480" cy="2148840"/>
          </a:xfrm>
          <a:prstGeom prst="roundRect">
            <a:avLst>
              <a:gd name="adj" fmla="val 3404"/>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25" name="Shape 18"/>
          <p:cNvSpPr/>
          <p:nvPr/>
        </p:nvSpPr>
        <p:spPr>
          <a:xfrm>
            <a:off x="4288536" y="4544568"/>
            <a:ext cx="731520" cy="731520"/>
          </a:xfrm>
          <a:prstGeom prst="ellipse">
            <a:avLst/>
          </a:prstGeom>
          <a:solidFill>
            <a:srgbClr val="1C7293"/>
          </a:solidFill>
          <a:ln/>
        </p:spPr>
      </p:sp>
      <p:pic>
        <p:nvPicPr>
          <p:cNvPr id="26" name="Image 5" descr="/home/claude/pptx_work/icons/shield.png"/>
          <p:cNvPicPr>
            <a:picLocks noChangeAspect="1"/>
          </p:cNvPicPr>
          <p:nvPr/>
        </p:nvPicPr>
        <p:blipFill>
          <a:blip r:embed="rId8"/>
          <a:stretch>
            <a:fillRect/>
          </a:stretch>
        </p:blipFill>
        <p:spPr>
          <a:xfrm>
            <a:off x="4383634" y="4639666"/>
            <a:ext cx="541325" cy="541325"/>
          </a:xfrm>
          <a:prstGeom prst="rect">
            <a:avLst/>
          </a:prstGeom>
        </p:spPr>
      </p:pic>
      <p:sp>
        <p:nvSpPr>
          <p:cNvPr id="27" name="Text 19"/>
          <p:cNvSpPr/>
          <p:nvPr/>
        </p:nvSpPr>
        <p:spPr>
          <a:xfrm>
            <a:off x="3442716" y="5440680"/>
            <a:ext cx="2423160" cy="822960"/>
          </a:xfrm>
          <a:prstGeom prst="rect">
            <a:avLst/>
          </a:prstGeom>
          <a:noFill/>
          <a:ln/>
        </p:spPr>
        <p:txBody>
          <a:bodyPr wrap="square" rtlCol="0" anchor="t"/>
          <a:lstStyle/>
          <a:p>
            <a:pPr marL="0" indent="0" algn="ctr">
              <a:buNone/>
            </a:pPr>
            <a:r>
              <a:rPr lang="en-US" sz="1250" b="1" dirty="0">
                <a:solidFill>
                  <a:srgbClr val="0B3D5C"/>
                </a:solidFill>
                <a:latin typeface="Calibri" pitchFamily="34" charset="0"/>
                <a:ea typeface="Calibri" pitchFamily="34" charset="-122"/>
                <a:cs typeface="Calibri" pitchFamily="34" charset="-120"/>
              </a:rPr>
              <a:t>Security, Governance &amp; Sharing</a:t>
            </a:r>
            <a:endParaRPr lang="en-US" sz="1250" dirty="0"/>
          </a:p>
        </p:txBody>
      </p:sp>
      <p:sp>
        <p:nvSpPr>
          <p:cNvPr id="28" name="Shape 20"/>
          <p:cNvSpPr/>
          <p:nvPr/>
        </p:nvSpPr>
        <p:spPr>
          <a:xfrm>
            <a:off x="6185916" y="4251960"/>
            <a:ext cx="2697480" cy="2148840"/>
          </a:xfrm>
          <a:prstGeom prst="roundRect">
            <a:avLst>
              <a:gd name="adj" fmla="val 3404"/>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29" name="Shape 21"/>
          <p:cNvSpPr/>
          <p:nvPr/>
        </p:nvSpPr>
        <p:spPr>
          <a:xfrm>
            <a:off x="7168896" y="4544568"/>
            <a:ext cx="731520" cy="731520"/>
          </a:xfrm>
          <a:prstGeom prst="ellipse">
            <a:avLst/>
          </a:prstGeom>
          <a:solidFill>
            <a:srgbClr val="0B3D5C"/>
          </a:solidFill>
          <a:ln/>
        </p:spPr>
      </p:sp>
      <p:pic>
        <p:nvPicPr>
          <p:cNvPr id="30" name="Image 6" descr="/home/claude/pptx_work/icons/gauge.png"/>
          <p:cNvPicPr>
            <a:picLocks noChangeAspect="1"/>
          </p:cNvPicPr>
          <p:nvPr/>
        </p:nvPicPr>
        <p:blipFill>
          <a:blip r:embed="rId9"/>
          <a:stretch>
            <a:fillRect/>
          </a:stretch>
        </p:blipFill>
        <p:spPr>
          <a:xfrm>
            <a:off x="7263994" y="4639666"/>
            <a:ext cx="541325" cy="541325"/>
          </a:xfrm>
          <a:prstGeom prst="rect">
            <a:avLst/>
          </a:prstGeom>
        </p:spPr>
      </p:pic>
      <p:sp>
        <p:nvSpPr>
          <p:cNvPr id="31" name="Text 22"/>
          <p:cNvSpPr/>
          <p:nvPr/>
        </p:nvSpPr>
        <p:spPr>
          <a:xfrm>
            <a:off x="6323076" y="5440680"/>
            <a:ext cx="2423160" cy="822960"/>
          </a:xfrm>
          <a:prstGeom prst="rect">
            <a:avLst/>
          </a:prstGeom>
          <a:noFill/>
          <a:ln/>
        </p:spPr>
        <p:txBody>
          <a:bodyPr wrap="square" rtlCol="0" anchor="t"/>
          <a:lstStyle/>
          <a:p>
            <a:pPr marL="0" indent="0" algn="ctr">
              <a:buNone/>
            </a:pPr>
            <a:r>
              <a:rPr lang="en-US" sz="1250" b="1" dirty="0">
                <a:solidFill>
                  <a:srgbClr val="0B3D5C"/>
                </a:solidFill>
                <a:latin typeface="Calibri" pitchFamily="34" charset="0"/>
                <a:ea typeface="Calibri" pitchFamily="34" charset="-122"/>
                <a:cs typeface="Calibri" pitchFamily="34" charset="-120"/>
              </a:rPr>
              <a:t>Performance &amp; Cost Optimisation</a:t>
            </a:r>
            <a:endParaRPr lang="en-US" sz="1250" dirty="0"/>
          </a:p>
        </p:txBody>
      </p:sp>
      <p:sp>
        <p:nvSpPr>
          <p:cNvPr id="32" name="Text 23"/>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33" name="Text 2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TOPIC 1 OF 7</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Delta Lake Internals</a:t>
            </a:r>
            <a:endParaRPr lang="en-US" sz="3000" dirty="0"/>
          </a:p>
        </p:txBody>
      </p:sp>
      <p:sp>
        <p:nvSpPr>
          <p:cNvPr id="4" name="Shape 2"/>
          <p:cNvSpPr/>
          <p:nvPr/>
        </p:nvSpPr>
        <p:spPr>
          <a:xfrm>
            <a:off x="10424160" y="502920"/>
            <a:ext cx="1005840" cy="1005840"/>
          </a:xfrm>
          <a:prstGeom prst="ellipse">
            <a:avLst/>
          </a:prstGeom>
          <a:solidFill>
            <a:srgbClr val="0B3D5C"/>
          </a:solidFill>
          <a:ln/>
        </p:spPr>
      </p:sp>
      <p:pic>
        <p:nvPicPr>
          <p:cNvPr id="5" name="Image 0" descr="/home/claude/pptx_work/icons/database.png"/>
          <p:cNvPicPr>
            <a:picLocks noChangeAspect="1"/>
          </p:cNvPicPr>
          <p:nvPr/>
        </p:nvPicPr>
        <p:blipFill>
          <a:blip r:embed="rId3"/>
          <a:stretch>
            <a:fillRect/>
          </a:stretch>
        </p:blipFill>
        <p:spPr>
          <a:xfrm>
            <a:off x="10554919" y="633679"/>
            <a:ext cx="744322" cy="744322"/>
          </a:xfrm>
          <a:prstGeom prst="rect">
            <a:avLst/>
          </a:prstGeom>
        </p:spPr>
      </p:pic>
      <p:sp>
        <p:nvSpPr>
          <p:cNvPr id="6" name="Shape 3"/>
          <p:cNvSpPr/>
          <p:nvPr/>
        </p:nvSpPr>
        <p:spPr>
          <a:xfrm>
            <a:off x="548640" y="1691640"/>
            <a:ext cx="7040880" cy="4343400"/>
          </a:xfrm>
          <a:prstGeom prst="roundRect">
            <a:avLst>
              <a:gd name="adj" fmla="val 1684"/>
            </a:avLst>
          </a:prstGeom>
          <a:solidFill>
            <a:srgbClr val="F7F9FA"/>
          </a:solidFill>
          <a:ln/>
        </p:spPr>
      </p:sp>
      <p:sp>
        <p:nvSpPr>
          <p:cNvPr id="7" name="Text 4"/>
          <p:cNvSpPr/>
          <p:nvPr/>
        </p:nvSpPr>
        <p:spPr>
          <a:xfrm>
            <a:off x="868680" y="192024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Transaction log (_delta_log): JSON commit files, checkpoints, and how ACID guarantees are enforced via Optimistic Concurrency Control</a:t>
            </a:r>
            <a:endParaRPr lang="en-US" sz="1300" dirty="0"/>
          </a:p>
        </p:txBody>
      </p:sp>
      <p:sp>
        <p:nvSpPr>
          <p:cNvPr id="8" name="Text 5"/>
          <p:cNvSpPr/>
          <p:nvPr/>
        </p:nvSpPr>
        <p:spPr>
          <a:xfrm>
            <a:off x="868680" y="274320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MERGE, OPTIMIZE, ZORDER, VACUUM — exact syntax, when to use each, and their impact on underlying file layout</a:t>
            </a:r>
            <a:endParaRPr lang="en-US" sz="1300" dirty="0"/>
          </a:p>
        </p:txBody>
      </p:sp>
      <p:sp>
        <p:nvSpPr>
          <p:cNvPr id="9" name="Text 6"/>
          <p:cNvSpPr/>
          <p:nvPr/>
        </p:nvSpPr>
        <p:spPr>
          <a:xfrm>
            <a:off x="868680" y="356616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Change Data Feed (CDF): enabling it, reading change data, and using it in downstream CDC pipelines</a:t>
            </a:r>
            <a:endParaRPr lang="en-US" sz="1300" dirty="0"/>
          </a:p>
        </p:txBody>
      </p:sp>
      <p:sp>
        <p:nvSpPr>
          <p:cNvPr id="10" name="Text 7"/>
          <p:cNvSpPr/>
          <p:nvPr/>
        </p:nvSpPr>
        <p:spPr>
          <a:xfrm>
            <a:off x="868680" y="438912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Schema evolution and enforcement, table constraints, generated columns, deletion vectors</a:t>
            </a:r>
            <a:endParaRPr lang="en-US" sz="1300" dirty="0"/>
          </a:p>
        </p:txBody>
      </p:sp>
      <p:sp>
        <p:nvSpPr>
          <p:cNvPr id="11" name="Text 8"/>
          <p:cNvSpPr/>
          <p:nvPr/>
        </p:nvSpPr>
        <p:spPr>
          <a:xfrm>
            <a:off x="868680" y="521208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Time travel, table history, and VACUUM retention implications</a:t>
            </a:r>
            <a:endParaRPr lang="en-US" sz="1300" dirty="0"/>
          </a:p>
        </p:txBody>
      </p:sp>
      <p:sp>
        <p:nvSpPr>
          <p:cNvPr id="12" name="Shape 9"/>
          <p:cNvSpPr/>
          <p:nvPr/>
        </p:nvSpPr>
        <p:spPr>
          <a:xfrm>
            <a:off x="7818120" y="1691640"/>
            <a:ext cx="3794760" cy="4343400"/>
          </a:xfrm>
          <a:prstGeom prst="roundRect">
            <a:avLst>
              <a:gd name="adj" fmla="val 1928"/>
            </a:avLst>
          </a:prstGeom>
          <a:solidFill>
            <a:srgbClr val="0B3D5C"/>
          </a:solidFill>
          <a:ln/>
        </p:spPr>
      </p:sp>
      <p:sp>
        <p:nvSpPr>
          <p:cNvPr id="13" name="Shape 10"/>
          <p:cNvSpPr/>
          <p:nvPr/>
        </p:nvSpPr>
        <p:spPr>
          <a:xfrm>
            <a:off x="8092440" y="2011680"/>
            <a:ext cx="548640" cy="548640"/>
          </a:xfrm>
          <a:prstGeom prst="ellipse">
            <a:avLst/>
          </a:prstGeom>
          <a:solidFill>
            <a:srgbClr val="F2A93B"/>
          </a:solidFill>
          <a:ln/>
        </p:spPr>
      </p:sp>
      <p:pic>
        <p:nvPicPr>
          <p:cNvPr id="14" name="Image 1" descr="/home/claude/pptx_work/icons/warning.png"/>
          <p:cNvPicPr>
            <a:picLocks noChangeAspect="1"/>
          </p:cNvPicPr>
          <p:nvPr/>
        </p:nvPicPr>
        <p:blipFill>
          <a:blip r:embed="rId4"/>
          <a:stretch>
            <a:fillRect/>
          </a:stretch>
        </p:blipFill>
        <p:spPr>
          <a:xfrm>
            <a:off x="8163763" y="2083003"/>
            <a:ext cx="405994" cy="405994"/>
          </a:xfrm>
          <a:prstGeom prst="rect">
            <a:avLst/>
          </a:prstGeom>
        </p:spPr>
      </p:pic>
      <p:sp>
        <p:nvSpPr>
          <p:cNvPr id="15" name="Text 11"/>
          <p:cNvSpPr/>
          <p:nvPr/>
        </p:nvSpPr>
        <p:spPr>
          <a:xfrm>
            <a:off x="8732520" y="2057400"/>
            <a:ext cx="2651760" cy="457200"/>
          </a:xfrm>
          <a:prstGeom prst="rect">
            <a:avLst/>
          </a:prstGeom>
          <a:noFill/>
          <a:ln/>
        </p:spPr>
        <p:txBody>
          <a:bodyPr wrap="square" rtlCol="0" anchor="ctr"/>
          <a:lstStyle/>
          <a:p>
            <a:pPr marL="0" indent="0">
              <a:buNone/>
            </a:pPr>
            <a:r>
              <a:rPr lang="en-US" sz="1400" b="1" dirty="0">
                <a:solidFill>
                  <a:srgbClr val="F2A93B"/>
                </a:solidFill>
                <a:latin typeface="Calibri" pitchFamily="34" charset="0"/>
                <a:ea typeface="Calibri" pitchFamily="34" charset="-122"/>
                <a:cs typeface="Calibri" pitchFamily="34" charset="-120"/>
              </a:rPr>
              <a:t>Why it's heavily tested</a:t>
            </a:r>
            <a:endParaRPr lang="en-US" sz="1400" dirty="0"/>
          </a:p>
        </p:txBody>
      </p:sp>
      <p:sp>
        <p:nvSpPr>
          <p:cNvPr id="16" name="Text 12"/>
          <p:cNvSpPr/>
          <p:nvPr/>
        </p:nvSpPr>
        <p:spPr>
          <a:xfrm>
            <a:off x="8092440" y="2743200"/>
            <a:ext cx="3246120" cy="3108960"/>
          </a:xfrm>
          <a:prstGeom prst="rect">
            <a:avLst/>
          </a:prstGeom>
          <a:noFill/>
          <a:ln/>
        </p:spPr>
        <p:txBody>
          <a:bodyPr wrap="square" rtlCol="0" anchor="ctr"/>
          <a:lstStyle/>
          <a:p>
            <a:pPr marL="0" indent="0">
              <a:lnSpc>
                <a:spcPts val="1700"/>
              </a:lnSpc>
              <a:buNone/>
            </a:pPr>
            <a:r>
              <a:rPr lang="en-US" sz="1250" dirty="0">
                <a:solidFill>
                  <a:srgbClr val="E4EDF4"/>
                </a:solidFill>
                <a:latin typeface="Calibri" pitchFamily="34" charset="0"/>
                <a:ea typeface="Calibri" pitchFamily="34" charset="-122"/>
                <a:cs typeface="Calibri" pitchFamily="34" charset="-120"/>
              </a:rPr>
              <a:t>Delta Lake is the foundation almost every other domain builds on — streaming, DLT, and performance questions all assume you understand the transaction log model. This was my single highest-weighted topic area, and I'd recommend starting your prep here.</a:t>
            </a:r>
            <a:endParaRPr lang="en-US" sz="1250" dirty="0"/>
          </a:p>
        </p:txBody>
      </p:sp>
      <p:sp>
        <p:nvSpPr>
          <p:cNvPr id="17" name="Text 13"/>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18" name="Text 1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TOPIC 2 OF 7</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Structured Streaming &amp; Auto Loader</a:t>
            </a:r>
            <a:endParaRPr lang="en-US" sz="3000" dirty="0"/>
          </a:p>
        </p:txBody>
      </p:sp>
      <p:sp>
        <p:nvSpPr>
          <p:cNvPr id="4" name="Shape 2"/>
          <p:cNvSpPr/>
          <p:nvPr/>
        </p:nvSpPr>
        <p:spPr>
          <a:xfrm>
            <a:off x="10424160" y="502920"/>
            <a:ext cx="1005840" cy="1005840"/>
          </a:xfrm>
          <a:prstGeom prst="ellipse">
            <a:avLst/>
          </a:prstGeom>
          <a:solidFill>
            <a:srgbClr val="1C7293"/>
          </a:solidFill>
          <a:ln/>
        </p:spPr>
      </p:sp>
      <p:pic>
        <p:nvPicPr>
          <p:cNvPr id="5" name="Image 0" descr="/home/claude/pptx_work/icons/water.png"/>
          <p:cNvPicPr>
            <a:picLocks noChangeAspect="1"/>
          </p:cNvPicPr>
          <p:nvPr/>
        </p:nvPicPr>
        <p:blipFill>
          <a:blip r:embed="rId3"/>
          <a:stretch>
            <a:fillRect/>
          </a:stretch>
        </p:blipFill>
        <p:spPr>
          <a:xfrm>
            <a:off x="10554919" y="633679"/>
            <a:ext cx="744322" cy="744322"/>
          </a:xfrm>
          <a:prstGeom prst="rect">
            <a:avLst/>
          </a:prstGeom>
        </p:spPr>
      </p:pic>
      <p:sp>
        <p:nvSpPr>
          <p:cNvPr id="6" name="Shape 3"/>
          <p:cNvSpPr/>
          <p:nvPr/>
        </p:nvSpPr>
        <p:spPr>
          <a:xfrm>
            <a:off x="548640" y="1691640"/>
            <a:ext cx="7040880" cy="4343400"/>
          </a:xfrm>
          <a:prstGeom prst="roundRect">
            <a:avLst>
              <a:gd name="adj" fmla="val 1684"/>
            </a:avLst>
          </a:prstGeom>
          <a:solidFill>
            <a:srgbClr val="F7F9FA"/>
          </a:solidFill>
          <a:ln/>
        </p:spPr>
      </p:sp>
      <p:sp>
        <p:nvSpPr>
          <p:cNvPr id="7" name="Text 4"/>
          <p:cNvSpPr/>
          <p:nvPr/>
        </p:nvSpPr>
        <p:spPr>
          <a:xfrm>
            <a:off x="868680" y="1920240"/>
            <a:ext cx="6400800" cy="777240"/>
          </a:xfrm>
          <a:prstGeom prst="rect">
            <a:avLst/>
          </a:prstGeom>
          <a:noFill/>
          <a:ln/>
        </p:spPr>
        <p:txBody>
          <a:bodyPr wrap="square" rtlCol="0" anchor="t"/>
          <a:lstStyle/>
          <a:p>
            <a:pPr marL="0" indent="0">
              <a:lnSpc>
                <a:spcPts val="1600"/>
              </a:lnSpc>
              <a:buNone/>
            </a:pPr>
            <a:r>
              <a:rPr lang="en-US" sz="1300" b="1" dirty="0">
                <a:solidFill>
                  <a:srgbClr val="1C7293"/>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Triggers: once, availableNow, fixed interval, and continuous — knowing when each is the right choice</a:t>
            </a:r>
            <a:endParaRPr lang="en-US" sz="1300" dirty="0"/>
          </a:p>
        </p:txBody>
      </p:sp>
      <p:sp>
        <p:nvSpPr>
          <p:cNvPr id="8" name="Text 5"/>
          <p:cNvSpPr/>
          <p:nvPr/>
        </p:nvSpPr>
        <p:spPr>
          <a:xfrm>
            <a:off x="868680" y="2743200"/>
            <a:ext cx="6400800" cy="777240"/>
          </a:xfrm>
          <a:prstGeom prst="rect">
            <a:avLst/>
          </a:prstGeom>
          <a:noFill/>
          <a:ln/>
        </p:spPr>
        <p:txBody>
          <a:bodyPr wrap="square" rtlCol="0" anchor="t"/>
          <a:lstStyle/>
          <a:p>
            <a:pPr marL="0" indent="0">
              <a:lnSpc>
                <a:spcPts val="1600"/>
              </a:lnSpc>
              <a:buNone/>
            </a:pPr>
            <a:r>
              <a:rPr lang="en-US" sz="1300" b="1" dirty="0">
                <a:solidFill>
                  <a:srgbClr val="1C7293"/>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Watermarking and windowing for late or out-of-order data; stateful vs. stateless streaming operations</a:t>
            </a:r>
            <a:endParaRPr lang="en-US" sz="1300" dirty="0"/>
          </a:p>
        </p:txBody>
      </p:sp>
      <p:sp>
        <p:nvSpPr>
          <p:cNvPr id="9" name="Text 6"/>
          <p:cNvSpPr/>
          <p:nvPr/>
        </p:nvSpPr>
        <p:spPr>
          <a:xfrm>
            <a:off x="868680" y="3566160"/>
            <a:ext cx="6400800" cy="777240"/>
          </a:xfrm>
          <a:prstGeom prst="rect">
            <a:avLst/>
          </a:prstGeom>
          <a:noFill/>
          <a:ln/>
        </p:spPr>
        <p:txBody>
          <a:bodyPr wrap="square" rtlCol="0" anchor="t"/>
          <a:lstStyle/>
          <a:p>
            <a:pPr marL="0" indent="0">
              <a:lnSpc>
                <a:spcPts val="1600"/>
              </a:lnSpc>
              <a:buNone/>
            </a:pPr>
            <a:r>
              <a:rPr lang="en-US" sz="1300" b="1" dirty="0">
                <a:solidFill>
                  <a:srgbClr val="1C7293"/>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Auto Loader: schema inference and evolution, file notification vs. directory listing mode, checkpointing behavior</a:t>
            </a:r>
            <a:endParaRPr lang="en-US" sz="1300" dirty="0"/>
          </a:p>
        </p:txBody>
      </p:sp>
      <p:sp>
        <p:nvSpPr>
          <p:cNvPr id="10" name="Text 7"/>
          <p:cNvSpPr/>
          <p:nvPr/>
        </p:nvSpPr>
        <p:spPr>
          <a:xfrm>
            <a:off x="868680" y="4389120"/>
            <a:ext cx="6400800" cy="777240"/>
          </a:xfrm>
          <a:prstGeom prst="rect">
            <a:avLst/>
          </a:prstGeom>
          <a:noFill/>
          <a:ln/>
        </p:spPr>
        <p:txBody>
          <a:bodyPr wrap="square" rtlCol="0" anchor="t"/>
          <a:lstStyle/>
          <a:p>
            <a:pPr marL="0" indent="0">
              <a:lnSpc>
                <a:spcPts val="1600"/>
              </a:lnSpc>
              <a:buNone/>
            </a:pPr>
            <a:r>
              <a:rPr lang="en-US" sz="1300" b="1" dirty="0">
                <a:solidFill>
                  <a:srgbClr val="1C7293"/>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Streaming joins and stream-static joins — and the constraints around each</a:t>
            </a:r>
            <a:endParaRPr lang="en-US" sz="1300" dirty="0"/>
          </a:p>
        </p:txBody>
      </p:sp>
      <p:sp>
        <p:nvSpPr>
          <p:cNvPr id="11" name="Shape 8"/>
          <p:cNvSpPr/>
          <p:nvPr/>
        </p:nvSpPr>
        <p:spPr>
          <a:xfrm>
            <a:off x="7818120" y="1691640"/>
            <a:ext cx="3794760" cy="4343400"/>
          </a:xfrm>
          <a:prstGeom prst="roundRect">
            <a:avLst>
              <a:gd name="adj" fmla="val 1928"/>
            </a:avLst>
          </a:prstGeom>
          <a:solidFill>
            <a:srgbClr val="0B3D5C"/>
          </a:solidFill>
          <a:ln/>
        </p:spPr>
      </p:sp>
      <p:sp>
        <p:nvSpPr>
          <p:cNvPr id="12" name="Shape 9"/>
          <p:cNvSpPr/>
          <p:nvPr/>
        </p:nvSpPr>
        <p:spPr>
          <a:xfrm>
            <a:off x="8092440" y="2011680"/>
            <a:ext cx="548640" cy="548640"/>
          </a:xfrm>
          <a:prstGeom prst="ellipse">
            <a:avLst/>
          </a:prstGeom>
          <a:solidFill>
            <a:srgbClr val="F2A93B"/>
          </a:solidFill>
          <a:ln/>
        </p:spPr>
      </p:sp>
      <p:pic>
        <p:nvPicPr>
          <p:cNvPr id="13" name="Image 1" descr="/home/claude/pptx_work/icons/warning.png"/>
          <p:cNvPicPr>
            <a:picLocks noChangeAspect="1"/>
          </p:cNvPicPr>
          <p:nvPr/>
        </p:nvPicPr>
        <p:blipFill>
          <a:blip r:embed="rId4"/>
          <a:stretch>
            <a:fillRect/>
          </a:stretch>
        </p:blipFill>
        <p:spPr>
          <a:xfrm>
            <a:off x="8163763" y="2083003"/>
            <a:ext cx="405994" cy="405994"/>
          </a:xfrm>
          <a:prstGeom prst="rect">
            <a:avLst/>
          </a:prstGeom>
        </p:spPr>
      </p:pic>
      <p:sp>
        <p:nvSpPr>
          <p:cNvPr id="14" name="Text 10"/>
          <p:cNvSpPr/>
          <p:nvPr/>
        </p:nvSpPr>
        <p:spPr>
          <a:xfrm>
            <a:off x="8732520" y="2057400"/>
            <a:ext cx="2651760" cy="457200"/>
          </a:xfrm>
          <a:prstGeom prst="rect">
            <a:avLst/>
          </a:prstGeom>
          <a:noFill/>
          <a:ln/>
        </p:spPr>
        <p:txBody>
          <a:bodyPr wrap="square" rtlCol="0" anchor="ctr"/>
          <a:lstStyle/>
          <a:p>
            <a:pPr marL="0" indent="0">
              <a:buNone/>
            </a:pPr>
            <a:r>
              <a:rPr lang="en-US" sz="1400" b="1" dirty="0">
                <a:solidFill>
                  <a:srgbClr val="F2A93B"/>
                </a:solidFill>
                <a:latin typeface="Calibri" pitchFamily="34" charset="0"/>
                <a:ea typeface="Calibri" pitchFamily="34" charset="-122"/>
                <a:cs typeface="Calibri" pitchFamily="34" charset="-120"/>
              </a:rPr>
              <a:t>What tripped me up</a:t>
            </a:r>
            <a:endParaRPr lang="en-US" sz="1400" dirty="0"/>
          </a:p>
        </p:txBody>
      </p:sp>
      <p:sp>
        <p:nvSpPr>
          <p:cNvPr id="15" name="Text 11"/>
          <p:cNvSpPr/>
          <p:nvPr/>
        </p:nvSpPr>
        <p:spPr>
          <a:xfrm>
            <a:off x="8092440" y="2743200"/>
            <a:ext cx="3246120" cy="3108960"/>
          </a:xfrm>
          <a:prstGeom prst="rect">
            <a:avLst/>
          </a:prstGeom>
          <a:noFill/>
          <a:ln/>
        </p:spPr>
        <p:txBody>
          <a:bodyPr wrap="square" rtlCol="0" anchor="ctr"/>
          <a:lstStyle/>
          <a:p>
            <a:pPr marL="0" indent="0">
              <a:lnSpc>
                <a:spcPts val="1700"/>
              </a:lnSpc>
              <a:buNone/>
            </a:pPr>
            <a:r>
              <a:rPr lang="en-US" sz="1250" dirty="0">
                <a:solidFill>
                  <a:srgbClr val="E4EDF4"/>
                </a:solidFill>
                <a:latin typeface="Calibri" pitchFamily="34" charset="0"/>
                <a:ea typeface="Calibri" pitchFamily="34" charset="-122"/>
                <a:cs typeface="Calibri" pitchFamily="34" charset="-120"/>
              </a:rPr>
              <a:t>Trigger-type questions look simple but test subtle distinctions — e.g., availableNow processes all currently-available data then stops, which is different from once. I'd revisit the official trigger documentation line by line before the exam.</a:t>
            </a:r>
            <a:endParaRPr lang="en-US" sz="1250" dirty="0"/>
          </a:p>
        </p:txBody>
      </p:sp>
      <p:sp>
        <p:nvSpPr>
          <p:cNvPr id="16" name="Text 12"/>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17" name="Text 1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TOPICS 3 &amp; 4 OF 7</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Data Modelling &amp; Lakeflow Declarative Pipelines</a:t>
            </a:r>
            <a:endParaRPr lang="en-US" sz="3000" dirty="0"/>
          </a:p>
        </p:txBody>
      </p:sp>
      <p:sp>
        <p:nvSpPr>
          <p:cNvPr id="4" name="Shape 2"/>
          <p:cNvSpPr/>
          <p:nvPr/>
        </p:nvSpPr>
        <p:spPr>
          <a:xfrm>
            <a:off x="10561320" y="502920"/>
            <a:ext cx="868680" cy="868680"/>
          </a:xfrm>
          <a:prstGeom prst="ellipse">
            <a:avLst/>
          </a:prstGeom>
          <a:solidFill>
            <a:srgbClr val="0B3D5C"/>
          </a:solidFill>
          <a:ln/>
        </p:spPr>
      </p:sp>
      <p:pic>
        <p:nvPicPr>
          <p:cNvPr id="5" name="Image 0" descr="/home/claude/pptx_work/icons/layers.png"/>
          <p:cNvPicPr>
            <a:picLocks noChangeAspect="1"/>
          </p:cNvPicPr>
          <p:nvPr/>
        </p:nvPicPr>
        <p:blipFill>
          <a:blip r:embed="rId3"/>
          <a:stretch>
            <a:fillRect/>
          </a:stretch>
        </p:blipFill>
        <p:spPr>
          <a:xfrm>
            <a:off x="10674248" y="615848"/>
            <a:ext cx="642823" cy="642823"/>
          </a:xfrm>
          <a:prstGeom prst="rect">
            <a:avLst/>
          </a:prstGeom>
        </p:spPr>
      </p:pic>
      <p:sp>
        <p:nvSpPr>
          <p:cNvPr id="6" name="Shape 3"/>
          <p:cNvSpPr/>
          <p:nvPr/>
        </p:nvSpPr>
        <p:spPr>
          <a:xfrm>
            <a:off x="548640" y="1691640"/>
            <a:ext cx="5394960" cy="4343400"/>
          </a:xfrm>
          <a:prstGeom prst="roundRect">
            <a:avLst>
              <a:gd name="adj" fmla="val 1684"/>
            </a:avLst>
          </a:prstGeom>
          <a:solidFill>
            <a:srgbClr val="F7F9FA"/>
          </a:solidFill>
          <a:ln/>
        </p:spPr>
      </p:sp>
      <p:sp>
        <p:nvSpPr>
          <p:cNvPr id="7" name="Shape 4"/>
          <p:cNvSpPr/>
          <p:nvPr/>
        </p:nvSpPr>
        <p:spPr>
          <a:xfrm>
            <a:off x="777240" y="1920240"/>
            <a:ext cx="502920" cy="502920"/>
          </a:xfrm>
          <a:prstGeom prst="ellipse">
            <a:avLst/>
          </a:prstGeom>
          <a:solidFill>
            <a:srgbClr val="0B3D5C"/>
          </a:solidFill>
          <a:ln/>
        </p:spPr>
      </p:sp>
      <p:pic>
        <p:nvPicPr>
          <p:cNvPr id="8" name="Image 1" descr="/home/claude/pptx_work/icons/layers.png"/>
          <p:cNvPicPr>
            <a:picLocks noChangeAspect="1"/>
          </p:cNvPicPr>
          <p:nvPr/>
        </p:nvPicPr>
        <p:blipFill>
          <a:blip r:embed="rId3"/>
          <a:stretch>
            <a:fillRect/>
          </a:stretch>
        </p:blipFill>
        <p:spPr>
          <a:xfrm>
            <a:off x="842620" y="1985620"/>
            <a:ext cx="372161" cy="372161"/>
          </a:xfrm>
          <a:prstGeom prst="rect">
            <a:avLst/>
          </a:prstGeom>
        </p:spPr>
      </p:pic>
      <p:sp>
        <p:nvSpPr>
          <p:cNvPr id="9" name="Text 5"/>
          <p:cNvSpPr/>
          <p:nvPr/>
        </p:nvSpPr>
        <p:spPr>
          <a:xfrm>
            <a:off x="1417320" y="1965960"/>
            <a:ext cx="4343400" cy="411480"/>
          </a:xfrm>
          <a:prstGeom prst="rect">
            <a:avLst/>
          </a:prstGeom>
          <a:noFill/>
          <a:ln/>
        </p:spPr>
        <p:txBody>
          <a:bodyPr wrap="square"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Medallion Architecture &amp; Modelling</a:t>
            </a:r>
            <a:endParaRPr lang="en-US" sz="1400" dirty="0"/>
          </a:p>
        </p:txBody>
      </p:sp>
      <p:sp>
        <p:nvSpPr>
          <p:cNvPr id="10" name="Text 6"/>
          <p:cNvSpPr/>
          <p:nvPr/>
        </p:nvSpPr>
        <p:spPr>
          <a:xfrm>
            <a:off x="868680" y="2606040"/>
            <a:ext cx="4846320" cy="1005840"/>
          </a:xfrm>
          <a:prstGeom prst="rect">
            <a:avLst/>
          </a:prstGeom>
          <a:noFill/>
          <a:ln/>
        </p:spPr>
        <p:txBody>
          <a:bodyPr wrap="square" rtlCol="0" anchor="t"/>
          <a:lstStyle/>
          <a:p>
            <a:pPr marL="0" indent="0">
              <a:lnSpc>
                <a:spcPts val="1500"/>
              </a:lnSpc>
              <a:buNone/>
            </a:pPr>
            <a:r>
              <a:rPr lang="en-US" sz="1250" b="1" dirty="0">
                <a:solidFill>
                  <a:srgbClr val="0B3D5C"/>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Bronze → Silver → Gold design decisions: what data belongs in each layer, and why</a:t>
            </a:r>
            <a:endParaRPr lang="en-US" sz="1250" dirty="0"/>
          </a:p>
        </p:txBody>
      </p:sp>
      <p:sp>
        <p:nvSpPr>
          <p:cNvPr id="11" name="Text 7"/>
          <p:cNvSpPr/>
          <p:nvPr/>
        </p:nvSpPr>
        <p:spPr>
          <a:xfrm>
            <a:off x="868680" y="3657600"/>
            <a:ext cx="4846320" cy="1005840"/>
          </a:xfrm>
          <a:prstGeom prst="rect">
            <a:avLst/>
          </a:prstGeom>
          <a:noFill/>
          <a:ln/>
        </p:spPr>
        <p:txBody>
          <a:bodyPr wrap="square" rtlCol="0" anchor="t"/>
          <a:lstStyle/>
          <a:p>
            <a:pPr marL="0" indent="0">
              <a:lnSpc>
                <a:spcPts val="1500"/>
              </a:lnSpc>
              <a:buNone/>
            </a:pPr>
            <a:r>
              <a:rPr lang="en-US" sz="1250" b="1" dirty="0">
                <a:solidFill>
                  <a:srgbClr val="0B3D5C"/>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Slowly Changing Dimensions (SCD Type 1 and Type 2), implemented using MERGE</a:t>
            </a:r>
            <a:endParaRPr lang="en-US" sz="1250" dirty="0"/>
          </a:p>
        </p:txBody>
      </p:sp>
      <p:sp>
        <p:nvSpPr>
          <p:cNvPr id="12" name="Text 8"/>
          <p:cNvSpPr/>
          <p:nvPr/>
        </p:nvSpPr>
        <p:spPr>
          <a:xfrm>
            <a:off x="868680" y="4709160"/>
            <a:ext cx="4846320" cy="1005840"/>
          </a:xfrm>
          <a:prstGeom prst="rect">
            <a:avLst/>
          </a:prstGeom>
          <a:noFill/>
          <a:ln/>
        </p:spPr>
        <p:txBody>
          <a:bodyPr wrap="square" rtlCol="0" anchor="t"/>
          <a:lstStyle/>
          <a:p>
            <a:pPr marL="0" indent="0">
              <a:lnSpc>
                <a:spcPts val="1500"/>
              </a:lnSpc>
              <a:buNone/>
            </a:pPr>
            <a:r>
              <a:rPr lang="en-US" sz="1250" b="1" dirty="0">
                <a:solidFill>
                  <a:srgbClr val="0B3D5C"/>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Singleplex vs. multiplex bronze ingestion patterns for streaming sources like Kafka</a:t>
            </a:r>
            <a:endParaRPr lang="en-US" sz="1250" dirty="0"/>
          </a:p>
        </p:txBody>
      </p:sp>
      <p:sp>
        <p:nvSpPr>
          <p:cNvPr id="13" name="Shape 9"/>
          <p:cNvSpPr/>
          <p:nvPr/>
        </p:nvSpPr>
        <p:spPr>
          <a:xfrm>
            <a:off x="6245352" y="1691640"/>
            <a:ext cx="5394960" cy="4343400"/>
          </a:xfrm>
          <a:prstGeom prst="roundRect">
            <a:avLst>
              <a:gd name="adj" fmla="val 1684"/>
            </a:avLst>
          </a:prstGeom>
          <a:solidFill>
            <a:srgbClr val="EEF3F6"/>
          </a:solidFill>
          <a:ln/>
        </p:spPr>
      </p:sp>
      <p:sp>
        <p:nvSpPr>
          <p:cNvPr id="14" name="Shape 10"/>
          <p:cNvSpPr/>
          <p:nvPr/>
        </p:nvSpPr>
        <p:spPr>
          <a:xfrm>
            <a:off x="6473952" y="1920240"/>
            <a:ext cx="502920" cy="502920"/>
          </a:xfrm>
          <a:prstGeom prst="ellipse">
            <a:avLst/>
          </a:prstGeom>
          <a:solidFill>
            <a:srgbClr val="1C7293"/>
          </a:solidFill>
          <a:ln/>
        </p:spPr>
      </p:sp>
      <p:pic>
        <p:nvPicPr>
          <p:cNvPr id="15" name="Image 2" descr="/home/claude/pptx_work/icons/project.png"/>
          <p:cNvPicPr>
            <a:picLocks noChangeAspect="1"/>
          </p:cNvPicPr>
          <p:nvPr/>
        </p:nvPicPr>
        <p:blipFill>
          <a:blip r:embed="rId4"/>
          <a:stretch>
            <a:fillRect/>
          </a:stretch>
        </p:blipFill>
        <p:spPr>
          <a:xfrm>
            <a:off x="6539332" y="1985620"/>
            <a:ext cx="372161" cy="372161"/>
          </a:xfrm>
          <a:prstGeom prst="rect">
            <a:avLst/>
          </a:prstGeom>
        </p:spPr>
      </p:pic>
      <p:sp>
        <p:nvSpPr>
          <p:cNvPr id="16" name="Text 11"/>
          <p:cNvSpPr/>
          <p:nvPr/>
        </p:nvSpPr>
        <p:spPr>
          <a:xfrm>
            <a:off x="7114032" y="1965960"/>
            <a:ext cx="4343400" cy="411480"/>
          </a:xfrm>
          <a:prstGeom prst="rect">
            <a:avLst/>
          </a:prstGeom>
          <a:noFill/>
          <a:ln/>
        </p:spPr>
        <p:txBody>
          <a:bodyPr wrap="square"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Lakeflow / Delta Live Tables (DLT)</a:t>
            </a:r>
            <a:endParaRPr lang="en-US" sz="1400" dirty="0"/>
          </a:p>
        </p:txBody>
      </p:sp>
      <p:sp>
        <p:nvSpPr>
          <p:cNvPr id="17" name="Text 12"/>
          <p:cNvSpPr/>
          <p:nvPr/>
        </p:nvSpPr>
        <p:spPr>
          <a:xfrm>
            <a:off x="6565392" y="2606040"/>
            <a:ext cx="4846320" cy="1005840"/>
          </a:xfrm>
          <a:prstGeom prst="rect">
            <a:avLst/>
          </a:prstGeom>
          <a:noFill/>
          <a:ln/>
        </p:spPr>
        <p:txBody>
          <a:bodyPr wrap="square" rtlCol="0" anchor="t"/>
          <a:lstStyle/>
          <a:p>
            <a:pPr marL="0" indent="0">
              <a:lnSpc>
                <a:spcPts val="1500"/>
              </a:lnSpc>
              <a:buNone/>
            </a:pPr>
            <a:r>
              <a:rPr lang="en-US" sz="1250" b="1" dirty="0">
                <a:solidFill>
                  <a:srgbClr val="1C7293"/>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Declarative pipeline syntax in SQL and Python, and data quality expectations: expect, expect_or_drop, expect_or_fail</a:t>
            </a:r>
            <a:endParaRPr lang="en-US" sz="1250" dirty="0"/>
          </a:p>
        </p:txBody>
      </p:sp>
      <p:sp>
        <p:nvSpPr>
          <p:cNvPr id="18" name="Text 13"/>
          <p:cNvSpPr/>
          <p:nvPr/>
        </p:nvSpPr>
        <p:spPr>
          <a:xfrm>
            <a:off x="6565392" y="3657600"/>
            <a:ext cx="4846320" cy="1005840"/>
          </a:xfrm>
          <a:prstGeom prst="rect">
            <a:avLst/>
          </a:prstGeom>
          <a:noFill/>
          <a:ln/>
        </p:spPr>
        <p:txBody>
          <a:bodyPr wrap="square" rtlCol="0" anchor="t"/>
          <a:lstStyle/>
          <a:p>
            <a:pPr marL="0" indent="0">
              <a:lnSpc>
                <a:spcPts val="1500"/>
              </a:lnSpc>
              <a:buNone/>
            </a:pPr>
            <a:r>
              <a:rPr lang="en-US" sz="1250" b="1" dirty="0">
                <a:solidFill>
                  <a:srgbClr val="1C7293"/>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Pipeline modes — triggered vs. continuous — and development vs. production mode</a:t>
            </a:r>
            <a:endParaRPr lang="en-US" sz="1250" dirty="0"/>
          </a:p>
        </p:txBody>
      </p:sp>
      <p:sp>
        <p:nvSpPr>
          <p:cNvPr id="19" name="Text 14"/>
          <p:cNvSpPr/>
          <p:nvPr/>
        </p:nvSpPr>
        <p:spPr>
          <a:xfrm>
            <a:off x="6565392" y="4709160"/>
            <a:ext cx="4846320" cy="1005840"/>
          </a:xfrm>
          <a:prstGeom prst="rect">
            <a:avLst/>
          </a:prstGeom>
          <a:noFill/>
          <a:ln/>
        </p:spPr>
        <p:txBody>
          <a:bodyPr wrap="square" rtlCol="0" anchor="t"/>
          <a:lstStyle/>
          <a:p>
            <a:pPr marL="0" indent="0">
              <a:lnSpc>
                <a:spcPts val="1500"/>
              </a:lnSpc>
              <a:buNone/>
            </a:pPr>
            <a:r>
              <a:rPr lang="en-US" sz="1250" b="1" dirty="0">
                <a:solidFill>
                  <a:srgbClr val="1C7293"/>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How DLT automatically resolves the dependency graph between tables, without you scheduling task order manually</a:t>
            </a:r>
            <a:endParaRPr lang="en-US" sz="1250" dirty="0"/>
          </a:p>
        </p:txBody>
      </p:sp>
      <p:sp>
        <p:nvSpPr>
          <p:cNvPr id="20" name="Text 15"/>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21" name="Text 16"/>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TOPIC 5 OF 7</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Orchestration, Deployment &amp; Debugging</a:t>
            </a:r>
            <a:endParaRPr lang="en-US" sz="3000" dirty="0"/>
          </a:p>
        </p:txBody>
      </p:sp>
      <p:sp>
        <p:nvSpPr>
          <p:cNvPr id="4" name="Shape 2"/>
          <p:cNvSpPr/>
          <p:nvPr/>
        </p:nvSpPr>
        <p:spPr>
          <a:xfrm>
            <a:off x="10424160" y="502920"/>
            <a:ext cx="1005840" cy="1005840"/>
          </a:xfrm>
          <a:prstGeom prst="ellipse">
            <a:avLst/>
          </a:prstGeom>
          <a:solidFill>
            <a:srgbClr val="0B3D5C"/>
          </a:solidFill>
          <a:ln/>
        </p:spPr>
      </p:sp>
      <p:pic>
        <p:nvPicPr>
          <p:cNvPr id="5" name="Image 0" descr="/home/claude/pptx_work/icons/tools.png"/>
          <p:cNvPicPr>
            <a:picLocks noChangeAspect="1"/>
          </p:cNvPicPr>
          <p:nvPr/>
        </p:nvPicPr>
        <p:blipFill>
          <a:blip r:embed="rId3"/>
          <a:stretch>
            <a:fillRect/>
          </a:stretch>
        </p:blipFill>
        <p:spPr>
          <a:xfrm>
            <a:off x="10554919" y="633679"/>
            <a:ext cx="744322" cy="744322"/>
          </a:xfrm>
          <a:prstGeom prst="rect">
            <a:avLst/>
          </a:prstGeom>
        </p:spPr>
      </p:pic>
      <p:sp>
        <p:nvSpPr>
          <p:cNvPr id="6" name="Shape 3"/>
          <p:cNvSpPr/>
          <p:nvPr/>
        </p:nvSpPr>
        <p:spPr>
          <a:xfrm>
            <a:off x="548640" y="1691640"/>
            <a:ext cx="7040880" cy="4343400"/>
          </a:xfrm>
          <a:prstGeom prst="roundRect">
            <a:avLst>
              <a:gd name="adj" fmla="val 1684"/>
            </a:avLst>
          </a:prstGeom>
          <a:solidFill>
            <a:srgbClr val="F7F9FA"/>
          </a:solidFill>
          <a:ln/>
        </p:spPr>
      </p:sp>
      <p:sp>
        <p:nvSpPr>
          <p:cNvPr id="7" name="Text 4"/>
          <p:cNvSpPr/>
          <p:nvPr/>
        </p:nvSpPr>
        <p:spPr>
          <a:xfrm>
            <a:off x="868680" y="192024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Databricks Workflows/Jobs: task dependencies, retry policies, job clusters vs. all-purpose clusters</a:t>
            </a:r>
            <a:endParaRPr lang="en-US" sz="1300" dirty="0"/>
          </a:p>
        </p:txBody>
      </p:sp>
      <p:sp>
        <p:nvSpPr>
          <p:cNvPr id="8" name="Text 5"/>
          <p:cNvSpPr/>
          <p:nvPr/>
        </p:nvSpPr>
        <p:spPr>
          <a:xfrm>
            <a:off x="868680" y="274320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Databricks CLI and REST API basics; dbutils for file handling and secrets management</a:t>
            </a:r>
            <a:endParaRPr lang="en-US" sz="1300" dirty="0"/>
          </a:p>
        </p:txBody>
      </p:sp>
      <p:sp>
        <p:nvSpPr>
          <p:cNvPr id="9" name="Text 6"/>
          <p:cNvSpPr/>
          <p:nvPr/>
        </p:nvSpPr>
        <p:spPr>
          <a:xfrm>
            <a:off x="868680" y="356616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Databricks Asset Bundles (DABs) for CI/CD-style deployment of jobs and pipelines</a:t>
            </a:r>
            <a:endParaRPr lang="en-US" sz="1300" dirty="0"/>
          </a:p>
        </p:txBody>
      </p:sp>
      <p:sp>
        <p:nvSpPr>
          <p:cNvPr id="10" name="Text 7"/>
          <p:cNvSpPr/>
          <p:nvPr/>
        </p:nvSpPr>
        <p:spPr>
          <a:xfrm>
            <a:off x="868680" y="438912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Common failure and debugging scenarios: reading stack traces, spotting data skew, out-of-memory errors, shuffle issues</a:t>
            </a:r>
            <a:endParaRPr lang="en-US" sz="1300" dirty="0"/>
          </a:p>
        </p:txBody>
      </p:sp>
      <p:sp>
        <p:nvSpPr>
          <p:cNvPr id="11" name="Shape 8"/>
          <p:cNvSpPr/>
          <p:nvPr/>
        </p:nvSpPr>
        <p:spPr>
          <a:xfrm>
            <a:off x="7818120" y="1691640"/>
            <a:ext cx="3794760" cy="4343400"/>
          </a:xfrm>
          <a:prstGeom prst="roundRect">
            <a:avLst>
              <a:gd name="adj" fmla="val 1928"/>
            </a:avLst>
          </a:prstGeom>
          <a:solidFill>
            <a:srgbClr val="0B3D5C"/>
          </a:solidFill>
          <a:ln/>
        </p:spPr>
      </p:sp>
      <p:sp>
        <p:nvSpPr>
          <p:cNvPr id="12" name="Shape 9"/>
          <p:cNvSpPr/>
          <p:nvPr/>
        </p:nvSpPr>
        <p:spPr>
          <a:xfrm>
            <a:off x="8092440" y="2011680"/>
            <a:ext cx="548640" cy="548640"/>
          </a:xfrm>
          <a:prstGeom prst="ellipse">
            <a:avLst/>
          </a:prstGeom>
          <a:solidFill>
            <a:srgbClr val="F2A93B"/>
          </a:solidFill>
          <a:ln/>
        </p:spPr>
      </p:sp>
      <p:pic>
        <p:nvPicPr>
          <p:cNvPr id="13" name="Image 1" descr="/home/claude/pptx_work/icons/warning.png"/>
          <p:cNvPicPr>
            <a:picLocks noChangeAspect="1"/>
          </p:cNvPicPr>
          <p:nvPr/>
        </p:nvPicPr>
        <p:blipFill>
          <a:blip r:embed="rId4"/>
          <a:stretch>
            <a:fillRect/>
          </a:stretch>
        </p:blipFill>
        <p:spPr>
          <a:xfrm>
            <a:off x="8163763" y="2083003"/>
            <a:ext cx="405994" cy="405994"/>
          </a:xfrm>
          <a:prstGeom prst="rect">
            <a:avLst/>
          </a:prstGeom>
        </p:spPr>
      </p:pic>
      <p:sp>
        <p:nvSpPr>
          <p:cNvPr id="14" name="Text 10"/>
          <p:cNvSpPr/>
          <p:nvPr/>
        </p:nvSpPr>
        <p:spPr>
          <a:xfrm>
            <a:off x="8732520" y="2057400"/>
            <a:ext cx="2651760" cy="457200"/>
          </a:xfrm>
          <a:prstGeom prst="rect">
            <a:avLst/>
          </a:prstGeom>
          <a:noFill/>
          <a:ln/>
        </p:spPr>
        <p:txBody>
          <a:bodyPr wrap="square" rtlCol="0" anchor="ctr"/>
          <a:lstStyle/>
          <a:p>
            <a:pPr marL="0" indent="0">
              <a:buNone/>
            </a:pPr>
            <a:r>
              <a:rPr lang="en-US" sz="1400" b="1" dirty="0">
                <a:solidFill>
                  <a:srgbClr val="F2A93B"/>
                </a:solidFill>
                <a:latin typeface="Calibri" pitchFamily="34" charset="0"/>
                <a:ea typeface="Calibri" pitchFamily="34" charset="-122"/>
                <a:cs typeface="Calibri" pitchFamily="34" charset="-120"/>
              </a:rPr>
              <a:t>Practical tip</a:t>
            </a:r>
            <a:endParaRPr lang="en-US" sz="1400" dirty="0"/>
          </a:p>
        </p:txBody>
      </p:sp>
      <p:sp>
        <p:nvSpPr>
          <p:cNvPr id="15" name="Text 11"/>
          <p:cNvSpPr/>
          <p:nvPr/>
        </p:nvSpPr>
        <p:spPr>
          <a:xfrm>
            <a:off x="8092440" y="2743200"/>
            <a:ext cx="3246120" cy="3108960"/>
          </a:xfrm>
          <a:prstGeom prst="rect">
            <a:avLst/>
          </a:prstGeom>
          <a:noFill/>
          <a:ln/>
        </p:spPr>
        <p:txBody>
          <a:bodyPr wrap="square" rtlCol="0" anchor="ctr"/>
          <a:lstStyle/>
          <a:p>
            <a:pPr marL="0" indent="0">
              <a:lnSpc>
                <a:spcPts val="1700"/>
              </a:lnSpc>
              <a:buNone/>
            </a:pPr>
            <a:r>
              <a:rPr lang="en-US" sz="1250" dirty="0">
                <a:solidFill>
                  <a:srgbClr val="E4EDF4"/>
                </a:solidFill>
                <a:latin typeface="Calibri" pitchFamily="34" charset="0"/>
                <a:ea typeface="Calibri" pitchFamily="34" charset="-122"/>
                <a:cs typeface="Calibri" pitchFamily="34" charset="-120"/>
              </a:rPr>
              <a:t>This section rewards hands-on job/cluster experience more than reading. If you haven't configured a multi-task job with retries and dependencies yourself, do it once before the exam — it makes the questions far more intuitive.</a:t>
            </a:r>
            <a:endParaRPr lang="en-US" sz="1250" dirty="0"/>
          </a:p>
        </p:txBody>
      </p:sp>
      <p:sp>
        <p:nvSpPr>
          <p:cNvPr id="16" name="Text 12"/>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17" name="Text 1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TOPIC 6 OF 7</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Security, Governance &amp; Sharing</a:t>
            </a:r>
            <a:endParaRPr lang="en-US" sz="3000" dirty="0"/>
          </a:p>
        </p:txBody>
      </p:sp>
      <p:sp>
        <p:nvSpPr>
          <p:cNvPr id="4" name="Shape 2"/>
          <p:cNvSpPr/>
          <p:nvPr/>
        </p:nvSpPr>
        <p:spPr>
          <a:xfrm>
            <a:off x="10424160" y="502920"/>
            <a:ext cx="1005840" cy="1005840"/>
          </a:xfrm>
          <a:prstGeom prst="ellipse">
            <a:avLst/>
          </a:prstGeom>
          <a:solidFill>
            <a:srgbClr val="1C7293"/>
          </a:solidFill>
          <a:ln/>
        </p:spPr>
      </p:sp>
      <p:pic>
        <p:nvPicPr>
          <p:cNvPr id="5" name="Image 0" descr="/home/claude/pptx_work/icons/shield.png"/>
          <p:cNvPicPr>
            <a:picLocks noChangeAspect="1"/>
          </p:cNvPicPr>
          <p:nvPr/>
        </p:nvPicPr>
        <p:blipFill>
          <a:blip r:embed="rId3"/>
          <a:stretch>
            <a:fillRect/>
          </a:stretch>
        </p:blipFill>
        <p:spPr>
          <a:xfrm>
            <a:off x="10554919" y="633679"/>
            <a:ext cx="744322" cy="744322"/>
          </a:xfrm>
          <a:prstGeom prst="rect">
            <a:avLst/>
          </a:prstGeom>
        </p:spPr>
      </p:pic>
      <p:sp>
        <p:nvSpPr>
          <p:cNvPr id="6" name="Shape 3"/>
          <p:cNvSpPr/>
          <p:nvPr/>
        </p:nvSpPr>
        <p:spPr>
          <a:xfrm>
            <a:off x="548640" y="1691640"/>
            <a:ext cx="7040880" cy="4343400"/>
          </a:xfrm>
          <a:prstGeom prst="roundRect">
            <a:avLst>
              <a:gd name="adj" fmla="val 1684"/>
            </a:avLst>
          </a:prstGeom>
          <a:solidFill>
            <a:srgbClr val="F7F9FA"/>
          </a:solidFill>
          <a:ln/>
        </p:spPr>
      </p:sp>
      <p:sp>
        <p:nvSpPr>
          <p:cNvPr id="7" name="Text 4"/>
          <p:cNvSpPr/>
          <p:nvPr/>
        </p:nvSpPr>
        <p:spPr>
          <a:xfrm>
            <a:off x="868680" y="1920240"/>
            <a:ext cx="6400800" cy="777240"/>
          </a:xfrm>
          <a:prstGeom prst="rect">
            <a:avLst/>
          </a:prstGeom>
          <a:noFill/>
          <a:ln/>
        </p:spPr>
        <p:txBody>
          <a:bodyPr wrap="square" rtlCol="0" anchor="t"/>
          <a:lstStyle/>
          <a:p>
            <a:pPr marL="0" indent="0">
              <a:lnSpc>
                <a:spcPts val="1600"/>
              </a:lnSpc>
              <a:buNone/>
            </a:pPr>
            <a:r>
              <a:rPr lang="en-US" sz="1300" b="1" dirty="0">
                <a:solidFill>
                  <a:srgbClr val="1C7293"/>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Unity Catalog object model: metastore → catalog → schema → table/view, and how privileges cascade down</a:t>
            </a:r>
            <a:endParaRPr lang="en-US" sz="1300" dirty="0"/>
          </a:p>
        </p:txBody>
      </p:sp>
      <p:sp>
        <p:nvSpPr>
          <p:cNvPr id="8" name="Text 5"/>
          <p:cNvSpPr/>
          <p:nvPr/>
        </p:nvSpPr>
        <p:spPr>
          <a:xfrm>
            <a:off x="868680" y="2743200"/>
            <a:ext cx="6400800" cy="777240"/>
          </a:xfrm>
          <a:prstGeom prst="rect">
            <a:avLst/>
          </a:prstGeom>
          <a:noFill/>
          <a:ln/>
        </p:spPr>
        <p:txBody>
          <a:bodyPr wrap="square" rtlCol="0" anchor="t"/>
          <a:lstStyle/>
          <a:p>
            <a:pPr marL="0" indent="0">
              <a:lnSpc>
                <a:spcPts val="1600"/>
              </a:lnSpc>
              <a:buNone/>
            </a:pPr>
            <a:r>
              <a:rPr lang="en-US" sz="1300" b="1" dirty="0">
                <a:solidFill>
                  <a:srgbClr val="1C7293"/>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Row-level and column-level security using dynamic views, row filters, and column masks</a:t>
            </a:r>
            <a:endParaRPr lang="en-US" sz="1300" dirty="0"/>
          </a:p>
        </p:txBody>
      </p:sp>
      <p:sp>
        <p:nvSpPr>
          <p:cNvPr id="9" name="Text 6"/>
          <p:cNvSpPr/>
          <p:nvPr/>
        </p:nvSpPr>
        <p:spPr>
          <a:xfrm>
            <a:off x="868680" y="3566160"/>
            <a:ext cx="6400800" cy="777240"/>
          </a:xfrm>
          <a:prstGeom prst="rect">
            <a:avLst/>
          </a:prstGeom>
          <a:noFill/>
          <a:ln/>
        </p:spPr>
        <p:txBody>
          <a:bodyPr wrap="square" rtlCol="0" anchor="t"/>
          <a:lstStyle/>
          <a:p>
            <a:pPr marL="0" indent="0">
              <a:lnSpc>
                <a:spcPts val="1600"/>
              </a:lnSpc>
              <a:buNone/>
            </a:pPr>
            <a:r>
              <a:rPr lang="en-US" sz="1300" b="1" dirty="0">
                <a:solidFill>
                  <a:srgbClr val="1C7293"/>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Delta Sharing: Databricks-to-Databricks vs. the open sharing protocol; Lakehouse Federation for querying external systems without moving data</a:t>
            </a:r>
            <a:endParaRPr lang="en-US" sz="1300" dirty="0"/>
          </a:p>
        </p:txBody>
      </p:sp>
      <p:sp>
        <p:nvSpPr>
          <p:cNvPr id="10" name="Text 7"/>
          <p:cNvSpPr/>
          <p:nvPr/>
        </p:nvSpPr>
        <p:spPr>
          <a:xfrm>
            <a:off x="868680" y="4389120"/>
            <a:ext cx="6400800" cy="777240"/>
          </a:xfrm>
          <a:prstGeom prst="rect">
            <a:avLst/>
          </a:prstGeom>
          <a:noFill/>
          <a:ln/>
        </p:spPr>
        <p:txBody>
          <a:bodyPr wrap="square" rtlCol="0" anchor="t"/>
          <a:lstStyle/>
          <a:p>
            <a:pPr marL="0" indent="0">
              <a:lnSpc>
                <a:spcPts val="1600"/>
              </a:lnSpc>
              <a:buNone/>
            </a:pPr>
            <a:r>
              <a:rPr lang="en-US" sz="1300" b="1" dirty="0">
                <a:solidFill>
                  <a:srgbClr val="1C7293"/>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Governance fundamentals: lineage tracking, audit logging, and access control best practices</a:t>
            </a:r>
            <a:endParaRPr lang="en-US" sz="1300" dirty="0"/>
          </a:p>
        </p:txBody>
      </p:sp>
      <p:sp>
        <p:nvSpPr>
          <p:cNvPr id="11" name="Shape 8"/>
          <p:cNvSpPr/>
          <p:nvPr/>
        </p:nvSpPr>
        <p:spPr>
          <a:xfrm>
            <a:off x="7818120" y="1691640"/>
            <a:ext cx="3794760" cy="4343400"/>
          </a:xfrm>
          <a:prstGeom prst="roundRect">
            <a:avLst>
              <a:gd name="adj" fmla="val 1928"/>
            </a:avLst>
          </a:prstGeom>
          <a:solidFill>
            <a:srgbClr val="0B3D5C"/>
          </a:solidFill>
          <a:ln/>
        </p:spPr>
      </p:sp>
      <p:sp>
        <p:nvSpPr>
          <p:cNvPr id="12" name="Shape 9"/>
          <p:cNvSpPr/>
          <p:nvPr/>
        </p:nvSpPr>
        <p:spPr>
          <a:xfrm>
            <a:off x="8092440" y="2011680"/>
            <a:ext cx="548640" cy="548640"/>
          </a:xfrm>
          <a:prstGeom prst="ellipse">
            <a:avLst/>
          </a:prstGeom>
          <a:solidFill>
            <a:srgbClr val="F2A93B"/>
          </a:solidFill>
          <a:ln/>
        </p:spPr>
      </p:sp>
      <p:pic>
        <p:nvPicPr>
          <p:cNvPr id="13" name="Image 1" descr="/home/claude/pptx_work/icons/warning.png"/>
          <p:cNvPicPr>
            <a:picLocks noChangeAspect="1"/>
          </p:cNvPicPr>
          <p:nvPr/>
        </p:nvPicPr>
        <p:blipFill>
          <a:blip r:embed="rId4"/>
          <a:stretch>
            <a:fillRect/>
          </a:stretch>
        </p:blipFill>
        <p:spPr>
          <a:xfrm>
            <a:off x="8163763" y="2083003"/>
            <a:ext cx="405994" cy="405994"/>
          </a:xfrm>
          <a:prstGeom prst="rect">
            <a:avLst/>
          </a:prstGeom>
        </p:spPr>
      </p:pic>
      <p:sp>
        <p:nvSpPr>
          <p:cNvPr id="14" name="Text 10"/>
          <p:cNvSpPr/>
          <p:nvPr/>
        </p:nvSpPr>
        <p:spPr>
          <a:xfrm>
            <a:off x="8732520" y="2057400"/>
            <a:ext cx="2651760" cy="457200"/>
          </a:xfrm>
          <a:prstGeom prst="rect">
            <a:avLst/>
          </a:prstGeom>
          <a:noFill/>
          <a:ln/>
        </p:spPr>
        <p:txBody>
          <a:bodyPr wrap="square" rtlCol="0" anchor="ctr"/>
          <a:lstStyle/>
          <a:p>
            <a:pPr marL="0" indent="0">
              <a:buNone/>
            </a:pPr>
            <a:r>
              <a:rPr lang="en-US" sz="1400" b="1" dirty="0">
                <a:solidFill>
                  <a:srgbClr val="F2A93B"/>
                </a:solidFill>
                <a:latin typeface="Calibri" pitchFamily="34" charset="0"/>
                <a:ea typeface="Calibri" pitchFamily="34" charset="-122"/>
                <a:cs typeface="Calibri" pitchFamily="34" charset="-120"/>
              </a:rPr>
              <a:t>My weakest section</a:t>
            </a:r>
            <a:endParaRPr lang="en-US" sz="1400" dirty="0"/>
          </a:p>
        </p:txBody>
      </p:sp>
      <p:sp>
        <p:nvSpPr>
          <p:cNvPr id="15" name="Text 11"/>
          <p:cNvSpPr/>
          <p:nvPr/>
        </p:nvSpPr>
        <p:spPr>
          <a:xfrm>
            <a:off x="8092440" y="2743200"/>
            <a:ext cx="3246120" cy="3108960"/>
          </a:xfrm>
          <a:prstGeom prst="rect">
            <a:avLst/>
          </a:prstGeom>
          <a:noFill/>
          <a:ln/>
        </p:spPr>
        <p:txBody>
          <a:bodyPr wrap="square" rtlCol="0" anchor="ctr"/>
          <a:lstStyle/>
          <a:p>
            <a:pPr marL="0" indent="0">
              <a:lnSpc>
                <a:spcPts val="1700"/>
              </a:lnSpc>
              <a:buNone/>
            </a:pPr>
            <a:r>
              <a:rPr lang="en-US" sz="1250" dirty="0">
                <a:solidFill>
                  <a:srgbClr val="E4EDF4"/>
                </a:solidFill>
                <a:latin typeface="Calibri" pitchFamily="34" charset="0"/>
                <a:ea typeface="Calibri" pitchFamily="34" charset="-122"/>
                <a:cs typeface="Calibri" pitchFamily="34" charset="-120"/>
              </a:rPr>
              <a:t>I scored 50% here — my lowest of all ten domains. Governance content is thinner in most training material compared to Delta Lake or Spark topics. If you do one thing differently than I did, spend deliberate extra time on Unity Catalog governance and lineage.</a:t>
            </a:r>
            <a:endParaRPr lang="en-US" sz="1250" dirty="0"/>
          </a:p>
        </p:txBody>
      </p:sp>
      <p:sp>
        <p:nvSpPr>
          <p:cNvPr id="16" name="Text 12"/>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17" name="Text 1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TOPIC 7 OF 7</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Performance &amp; Cost Optimisation</a:t>
            </a:r>
            <a:endParaRPr lang="en-US" sz="3000" dirty="0"/>
          </a:p>
        </p:txBody>
      </p:sp>
      <p:sp>
        <p:nvSpPr>
          <p:cNvPr id="4" name="Shape 2"/>
          <p:cNvSpPr/>
          <p:nvPr/>
        </p:nvSpPr>
        <p:spPr>
          <a:xfrm>
            <a:off x="10424160" y="502920"/>
            <a:ext cx="1005840" cy="1005840"/>
          </a:xfrm>
          <a:prstGeom prst="ellipse">
            <a:avLst/>
          </a:prstGeom>
          <a:solidFill>
            <a:srgbClr val="0B3D5C"/>
          </a:solidFill>
          <a:ln/>
        </p:spPr>
      </p:sp>
      <p:pic>
        <p:nvPicPr>
          <p:cNvPr id="5" name="Image 0" descr="/home/claude/pptx_work/icons/gauge.png"/>
          <p:cNvPicPr>
            <a:picLocks noChangeAspect="1"/>
          </p:cNvPicPr>
          <p:nvPr/>
        </p:nvPicPr>
        <p:blipFill>
          <a:blip r:embed="rId3"/>
          <a:stretch>
            <a:fillRect/>
          </a:stretch>
        </p:blipFill>
        <p:spPr>
          <a:xfrm>
            <a:off x="10554919" y="633679"/>
            <a:ext cx="744322" cy="744322"/>
          </a:xfrm>
          <a:prstGeom prst="rect">
            <a:avLst/>
          </a:prstGeom>
        </p:spPr>
      </p:pic>
      <p:sp>
        <p:nvSpPr>
          <p:cNvPr id="6" name="Shape 3"/>
          <p:cNvSpPr/>
          <p:nvPr/>
        </p:nvSpPr>
        <p:spPr>
          <a:xfrm>
            <a:off x="548640" y="1691640"/>
            <a:ext cx="7040880" cy="4343400"/>
          </a:xfrm>
          <a:prstGeom prst="roundRect">
            <a:avLst>
              <a:gd name="adj" fmla="val 1684"/>
            </a:avLst>
          </a:prstGeom>
          <a:solidFill>
            <a:srgbClr val="F7F9FA"/>
          </a:solidFill>
          <a:ln/>
        </p:spPr>
      </p:sp>
      <p:sp>
        <p:nvSpPr>
          <p:cNvPr id="7" name="Text 4"/>
          <p:cNvSpPr/>
          <p:nvPr/>
        </p:nvSpPr>
        <p:spPr>
          <a:xfrm>
            <a:off x="868680" y="192024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Partitioning vs. Z-ordering vs. liquid clustering — choosing the right strategy for a given query pattern</a:t>
            </a:r>
            <a:endParaRPr lang="en-US" sz="1300" dirty="0"/>
          </a:p>
        </p:txBody>
      </p:sp>
      <p:sp>
        <p:nvSpPr>
          <p:cNvPr id="8" name="Text 5"/>
          <p:cNvSpPr/>
          <p:nvPr/>
        </p:nvSpPr>
        <p:spPr>
          <a:xfrm>
            <a:off x="868680" y="274320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Cluster sizing, autoscaling, spot instances, and the performance benefit of the Photon engine</a:t>
            </a:r>
            <a:endParaRPr lang="en-US" sz="1300" dirty="0"/>
          </a:p>
        </p:txBody>
      </p:sp>
      <p:sp>
        <p:nvSpPr>
          <p:cNvPr id="9" name="Text 6"/>
          <p:cNvSpPr/>
          <p:nvPr/>
        </p:nvSpPr>
        <p:spPr>
          <a:xfrm>
            <a:off x="868680" y="3566160"/>
            <a:ext cx="6400800" cy="777240"/>
          </a:xfrm>
          <a:prstGeom prst="rect">
            <a:avLst/>
          </a:prstGeom>
          <a:noFill/>
          <a:ln/>
        </p:spPr>
        <p:txBody>
          <a:bodyPr wrap="square" rtlCol="0" anchor="t"/>
          <a:lstStyle/>
          <a:p>
            <a:pPr marL="0" indent="0">
              <a:lnSpc>
                <a:spcPts val="1600"/>
              </a:lnSpc>
              <a:buNone/>
            </a:pPr>
            <a:r>
              <a:rPr lang="en-US" sz="1300" b="1" dirty="0">
                <a:solidFill>
                  <a:srgbClr val="0B3D5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Caching strategies and broadcast joins for skewed or small-large table join scenarios</a:t>
            </a:r>
            <a:endParaRPr lang="en-US" sz="1300" dirty="0"/>
          </a:p>
        </p:txBody>
      </p:sp>
      <p:sp>
        <p:nvSpPr>
          <p:cNvPr id="10" name="Shape 7"/>
          <p:cNvSpPr/>
          <p:nvPr/>
        </p:nvSpPr>
        <p:spPr>
          <a:xfrm>
            <a:off x="7818120" y="1691640"/>
            <a:ext cx="3794760" cy="4343400"/>
          </a:xfrm>
          <a:prstGeom prst="roundRect">
            <a:avLst>
              <a:gd name="adj" fmla="val 1928"/>
            </a:avLst>
          </a:prstGeom>
          <a:solidFill>
            <a:srgbClr val="0B3D5C"/>
          </a:solidFill>
          <a:ln/>
        </p:spPr>
      </p:sp>
      <p:sp>
        <p:nvSpPr>
          <p:cNvPr id="11" name="Shape 8"/>
          <p:cNvSpPr/>
          <p:nvPr/>
        </p:nvSpPr>
        <p:spPr>
          <a:xfrm>
            <a:off x="8092440" y="2011680"/>
            <a:ext cx="548640" cy="548640"/>
          </a:xfrm>
          <a:prstGeom prst="ellipse">
            <a:avLst/>
          </a:prstGeom>
          <a:solidFill>
            <a:srgbClr val="F2A93B"/>
          </a:solidFill>
          <a:ln/>
        </p:spPr>
      </p:sp>
      <p:pic>
        <p:nvPicPr>
          <p:cNvPr id="12" name="Image 1" descr="/home/claude/pptx_work/icons/warning.png"/>
          <p:cNvPicPr>
            <a:picLocks noChangeAspect="1"/>
          </p:cNvPicPr>
          <p:nvPr/>
        </p:nvPicPr>
        <p:blipFill>
          <a:blip r:embed="rId4"/>
          <a:stretch>
            <a:fillRect/>
          </a:stretch>
        </p:blipFill>
        <p:spPr>
          <a:xfrm>
            <a:off x="8163763" y="2083003"/>
            <a:ext cx="405994" cy="405994"/>
          </a:xfrm>
          <a:prstGeom prst="rect">
            <a:avLst/>
          </a:prstGeom>
        </p:spPr>
      </p:pic>
      <p:sp>
        <p:nvSpPr>
          <p:cNvPr id="13" name="Text 9"/>
          <p:cNvSpPr/>
          <p:nvPr/>
        </p:nvSpPr>
        <p:spPr>
          <a:xfrm>
            <a:off x="8732520" y="2057400"/>
            <a:ext cx="2651760" cy="457200"/>
          </a:xfrm>
          <a:prstGeom prst="rect">
            <a:avLst/>
          </a:prstGeom>
          <a:noFill/>
          <a:ln/>
        </p:spPr>
        <p:txBody>
          <a:bodyPr wrap="square" rtlCol="0" anchor="ctr"/>
          <a:lstStyle/>
          <a:p>
            <a:pPr marL="0" indent="0">
              <a:buNone/>
            </a:pPr>
            <a:r>
              <a:rPr lang="en-US" sz="1400" b="1" dirty="0">
                <a:solidFill>
                  <a:srgbClr val="F2A93B"/>
                </a:solidFill>
                <a:latin typeface="Calibri" pitchFamily="34" charset="0"/>
                <a:ea typeface="Calibri" pitchFamily="34" charset="-122"/>
                <a:cs typeface="Calibri" pitchFamily="34" charset="-120"/>
              </a:rPr>
              <a:t>Where I did well</a:t>
            </a:r>
            <a:endParaRPr lang="en-US" sz="1400" dirty="0"/>
          </a:p>
        </p:txBody>
      </p:sp>
      <p:sp>
        <p:nvSpPr>
          <p:cNvPr id="14" name="Text 10"/>
          <p:cNvSpPr/>
          <p:nvPr/>
        </p:nvSpPr>
        <p:spPr>
          <a:xfrm>
            <a:off x="8092440" y="2743200"/>
            <a:ext cx="3246120" cy="3108960"/>
          </a:xfrm>
          <a:prstGeom prst="rect">
            <a:avLst/>
          </a:prstGeom>
          <a:noFill/>
          <a:ln/>
        </p:spPr>
        <p:txBody>
          <a:bodyPr wrap="square" rtlCol="0" anchor="ctr"/>
          <a:lstStyle/>
          <a:p>
            <a:pPr marL="0" indent="0">
              <a:lnSpc>
                <a:spcPts val="1700"/>
              </a:lnSpc>
              <a:buNone/>
            </a:pPr>
            <a:r>
              <a:rPr lang="en-US" sz="1250" dirty="0">
                <a:solidFill>
                  <a:srgbClr val="E4EDF4"/>
                </a:solidFill>
                <a:latin typeface="Calibri" pitchFamily="34" charset="0"/>
                <a:ea typeface="Calibri" pitchFamily="34" charset="-122"/>
                <a:cs typeface="Calibri" pitchFamily="34" charset="-120"/>
              </a:rPr>
              <a:t>I scored 87% here. Because this topic connects tightly to Delta Lake internals, strong prep on transaction log and file layout concepts naturally carried over — another reason to prioritize Delta Lake fundamentals early.</a:t>
            </a:r>
            <a:endParaRPr lang="en-US" sz="1250" dirty="0"/>
          </a:p>
        </p:txBody>
      </p:sp>
      <p:sp>
        <p:nvSpPr>
          <p:cNvPr id="15" name="Text 11"/>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16" name="Text 1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THE EXAM ITSELF</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Format &amp; What Questions Actually Look Like</a:t>
            </a:r>
            <a:endParaRPr lang="en-US" sz="3000" dirty="0"/>
          </a:p>
        </p:txBody>
      </p:sp>
      <p:sp>
        <p:nvSpPr>
          <p:cNvPr id="4" name="Shape 2"/>
          <p:cNvSpPr/>
          <p:nvPr/>
        </p:nvSpPr>
        <p:spPr>
          <a:xfrm>
            <a:off x="548640" y="1691640"/>
            <a:ext cx="2514600" cy="1371600"/>
          </a:xfrm>
          <a:prstGeom prst="roundRect">
            <a:avLst>
              <a:gd name="adj" fmla="val 5333"/>
            </a:avLst>
          </a:prstGeom>
          <a:solidFill>
            <a:srgbClr val="0B3D5C"/>
          </a:solidFill>
          <a:ln/>
        </p:spPr>
      </p:sp>
      <p:sp>
        <p:nvSpPr>
          <p:cNvPr id="5" name="Text 3"/>
          <p:cNvSpPr/>
          <p:nvPr/>
        </p:nvSpPr>
        <p:spPr>
          <a:xfrm>
            <a:off x="548640" y="1783080"/>
            <a:ext cx="2514600" cy="685800"/>
          </a:xfrm>
          <a:prstGeom prst="rect">
            <a:avLst/>
          </a:prstGeom>
          <a:noFill/>
          <a:ln/>
        </p:spPr>
        <p:txBody>
          <a:bodyPr wrap="square"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60</a:t>
            </a:r>
            <a:endParaRPr lang="en-US" sz="2600" dirty="0"/>
          </a:p>
        </p:txBody>
      </p:sp>
      <p:sp>
        <p:nvSpPr>
          <p:cNvPr id="6" name="Text 4"/>
          <p:cNvSpPr/>
          <p:nvPr/>
        </p:nvSpPr>
        <p:spPr>
          <a:xfrm>
            <a:off x="548640" y="2468880"/>
            <a:ext cx="2514600" cy="45720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Questions</a:t>
            </a:r>
            <a:endParaRPr lang="en-US" sz="1200" dirty="0"/>
          </a:p>
        </p:txBody>
      </p:sp>
      <p:sp>
        <p:nvSpPr>
          <p:cNvPr id="7" name="Shape 5"/>
          <p:cNvSpPr/>
          <p:nvPr/>
        </p:nvSpPr>
        <p:spPr>
          <a:xfrm>
            <a:off x="3291840" y="1691640"/>
            <a:ext cx="2514600" cy="1371600"/>
          </a:xfrm>
          <a:prstGeom prst="roundRect">
            <a:avLst>
              <a:gd name="adj" fmla="val 5333"/>
            </a:avLst>
          </a:prstGeom>
          <a:solidFill>
            <a:srgbClr val="0B3D5C"/>
          </a:solidFill>
          <a:ln/>
        </p:spPr>
      </p:sp>
      <p:sp>
        <p:nvSpPr>
          <p:cNvPr id="8" name="Text 6"/>
          <p:cNvSpPr/>
          <p:nvPr/>
        </p:nvSpPr>
        <p:spPr>
          <a:xfrm>
            <a:off x="3291840" y="1783080"/>
            <a:ext cx="2514600" cy="685800"/>
          </a:xfrm>
          <a:prstGeom prst="rect">
            <a:avLst/>
          </a:prstGeom>
          <a:noFill/>
          <a:ln/>
        </p:spPr>
        <p:txBody>
          <a:bodyPr wrap="square"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120</a:t>
            </a:r>
            <a:endParaRPr lang="en-US" sz="2600" dirty="0"/>
          </a:p>
        </p:txBody>
      </p:sp>
      <p:sp>
        <p:nvSpPr>
          <p:cNvPr id="9" name="Text 7"/>
          <p:cNvSpPr/>
          <p:nvPr/>
        </p:nvSpPr>
        <p:spPr>
          <a:xfrm>
            <a:off x="3291840" y="2468880"/>
            <a:ext cx="2514600" cy="45720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Minutes</a:t>
            </a:r>
            <a:endParaRPr lang="en-US" sz="1200" dirty="0"/>
          </a:p>
        </p:txBody>
      </p:sp>
      <p:sp>
        <p:nvSpPr>
          <p:cNvPr id="10" name="Shape 8"/>
          <p:cNvSpPr/>
          <p:nvPr/>
        </p:nvSpPr>
        <p:spPr>
          <a:xfrm>
            <a:off x="6035040" y="1691640"/>
            <a:ext cx="2514600" cy="1371600"/>
          </a:xfrm>
          <a:prstGeom prst="roundRect">
            <a:avLst>
              <a:gd name="adj" fmla="val 5333"/>
            </a:avLst>
          </a:prstGeom>
          <a:solidFill>
            <a:srgbClr val="0B3D5C"/>
          </a:solidFill>
          <a:ln/>
        </p:spPr>
      </p:sp>
      <p:sp>
        <p:nvSpPr>
          <p:cNvPr id="11" name="Text 9"/>
          <p:cNvSpPr/>
          <p:nvPr/>
        </p:nvSpPr>
        <p:spPr>
          <a:xfrm>
            <a:off x="6035040" y="1783080"/>
            <a:ext cx="2514600" cy="685800"/>
          </a:xfrm>
          <a:prstGeom prst="rect">
            <a:avLst/>
          </a:prstGeom>
          <a:noFill/>
          <a:ln/>
        </p:spPr>
        <p:txBody>
          <a:bodyPr wrap="square"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10</a:t>
            </a:r>
            <a:endParaRPr lang="en-US" sz="2600" dirty="0"/>
          </a:p>
        </p:txBody>
      </p:sp>
      <p:sp>
        <p:nvSpPr>
          <p:cNvPr id="12" name="Text 10"/>
          <p:cNvSpPr/>
          <p:nvPr/>
        </p:nvSpPr>
        <p:spPr>
          <a:xfrm>
            <a:off x="6035040" y="2468880"/>
            <a:ext cx="2514600" cy="45720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Domains</a:t>
            </a:r>
            <a:endParaRPr lang="en-US" sz="1200" dirty="0"/>
          </a:p>
        </p:txBody>
      </p:sp>
      <p:sp>
        <p:nvSpPr>
          <p:cNvPr id="13" name="Shape 11"/>
          <p:cNvSpPr/>
          <p:nvPr/>
        </p:nvSpPr>
        <p:spPr>
          <a:xfrm>
            <a:off x="8778240" y="1691640"/>
            <a:ext cx="2514600" cy="1371600"/>
          </a:xfrm>
          <a:prstGeom prst="roundRect">
            <a:avLst>
              <a:gd name="adj" fmla="val 5333"/>
            </a:avLst>
          </a:prstGeom>
          <a:solidFill>
            <a:srgbClr val="0B3D5C"/>
          </a:solidFill>
          <a:ln/>
        </p:spPr>
      </p:sp>
      <p:sp>
        <p:nvSpPr>
          <p:cNvPr id="14" name="Text 12"/>
          <p:cNvSpPr/>
          <p:nvPr/>
        </p:nvSpPr>
        <p:spPr>
          <a:xfrm>
            <a:off x="8778240" y="1783080"/>
            <a:ext cx="2514600" cy="685800"/>
          </a:xfrm>
          <a:prstGeom prst="rect">
            <a:avLst/>
          </a:prstGeom>
          <a:noFill/>
          <a:ln/>
        </p:spPr>
        <p:txBody>
          <a:bodyPr wrap="square"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Scenario</a:t>
            </a:r>
            <a:endParaRPr lang="en-US" sz="2600" dirty="0"/>
          </a:p>
        </p:txBody>
      </p:sp>
      <p:sp>
        <p:nvSpPr>
          <p:cNvPr id="15" name="Text 13"/>
          <p:cNvSpPr/>
          <p:nvPr/>
        </p:nvSpPr>
        <p:spPr>
          <a:xfrm>
            <a:off x="8778240" y="2468880"/>
            <a:ext cx="2514600" cy="45720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-based style</a:t>
            </a:r>
            <a:endParaRPr lang="en-US" sz="1200" dirty="0"/>
          </a:p>
        </p:txBody>
      </p:sp>
      <p:sp>
        <p:nvSpPr>
          <p:cNvPr id="16" name="Shape 14"/>
          <p:cNvSpPr/>
          <p:nvPr/>
        </p:nvSpPr>
        <p:spPr>
          <a:xfrm>
            <a:off x="548640" y="3337560"/>
            <a:ext cx="11064240" cy="2697480"/>
          </a:xfrm>
          <a:prstGeom prst="roundRect">
            <a:avLst>
              <a:gd name="adj" fmla="val 2712"/>
            </a:avLst>
          </a:prstGeom>
          <a:solidFill>
            <a:srgbClr val="FFFFFF"/>
          </a:solidFill>
          <a:ln w="12700">
            <a:solidFill>
              <a:srgbClr val="DCE4EA"/>
            </a:solidFill>
            <a:prstDash val="solid"/>
          </a:ln>
        </p:spPr>
      </p:sp>
      <p:sp>
        <p:nvSpPr>
          <p:cNvPr id="17" name="Text 15"/>
          <p:cNvSpPr/>
          <p:nvPr/>
        </p:nvSpPr>
        <p:spPr>
          <a:xfrm>
            <a:off x="868680" y="3520440"/>
            <a:ext cx="10515600" cy="594360"/>
          </a:xfrm>
          <a:prstGeom prst="rect">
            <a:avLst/>
          </a:prstGeom>
          <a:noFill/>
          <a:ln/>
        </p:spPr>
        <p:txBody>
          <a:bodyPr wrap="square" rtlCol="0" anchor="t"/>
          <a:lstStyle/>
          <a:p>
            <a:pPr marL="0" indent="0">
              <a:lnSpc>
                <a:spcPts val="1500"/>
              </a:lnSpc>
              <a:buNone/>
            </a:pPr>
            <a:r>
              <a:rPr lang="en-US" sz="1250" b="1" dirty="0">
                <a:solidFill>
                  <a:srgbClr val="1C7293"/>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Questions describe a business scenario (e.g. "a streaming pipeline is falling behind") and ask you to pick the correct feature or code fix — not simple recall</a:t>
            </a:r>
            <a:endParaRPr lang="en-US" sz="1250" dirty="0"/>
          </a:p>
        </p:txBody>
      </p:sp>
      <p:sp>
        <p:nvSpPr>
          <p:cNvPr id="18" name="Text 16"/>
          <p:cNvSpPr/>
          <p:nvPr/>
        </p:nvSpPr>
        <p:spPr>
          <a:xfrm>
            <a:off x="868680" y="4160520"/>
            <a:ext cx="10515600" cy="594360"/>
          </a:xfrm>
          <a:prstGeom prst="rect">
            <a:avLst/>
          </a:prstGeom>
          <a:noFill/>
          <a:ln/>
        </p:spPr>
        <p:txBody>
          <a:bodyPr wrap="square" rtlCol="0" anchor="t"/>
          <a:lstStyle/>
          <a:p>
            <a:pPr marL="0" indent="0">
              <a:lnSpc>
                <a:spcPts val="1500"/>
              </a:lnSpc>
              <a:buNone/>
            </a:pPr>
            <a:r>
              <a:rPr lang="en-US" sz="1250" b="1" dirty="0">
                <a:solidFill>
                  <a:srgbClr val="1C7293"/>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Heavy use of Python and SQL code snippets — you're expected to read code and spot bugs, missing options, or the correct way to complete a MERGE/streaming/DLT statement</a:t>
            </a:r>
            <a:endParaRPr lang="en-US" sz="1250" dirty="0"/>
          </a:p>
        </p:txBody>
      </p:sp>
      <p:sp>
        <p:nvSpPr>
          <p:cNvPr id="19" name="Text 17"/>
          <p:cNvSpPr/>
          <p:nvPr/>
        </p:nvSpPr>
        <p:spPr>
          <a:xfrm>
            <a:off x="868680" y="4800600"/>
            <a:ext cx="10515600" cy="594360"/>
          </a:xfrm>
          <a:prstGeom prst="rect">
            <a:avLst/>
          </a:prstGeom>
          <a:noFill/>
          <a:ln/>
        </p:spPr>
        <p:txBody>
          <a:bodyPr wrap="square" rtlCol="0" anchor="t"/>
          <a:lstStyle/>
          <a:p>
            <a:pPr marL="0" indent="0">
              <a:lnSpc>
                <a:spcPts val="1500"/>
              </a:lnSpc>
              <a:buNone/>
            </a:pPr>
            <a:r>
              <a:rPr lang="en-US" sz="1250" b="1" dirty="0">
                <a:solidFill>
                  <a:srgbClr val="1C7293"/>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Several questions test exact syntax and parameter names (e.g. Auto Loader options, DLT expectation decorators), not just the underlying concept</a:t>
            </a:r>
            <a:endParaRPr lang="en-US" sz="1250" dirty="0"/>
          </a:p>
        </p:txBody>
      </p:sp>
      <p:sp>
        <p:nvSpPr>
          <p:cNvPr id="20" name="Text 18"/>
          <p:cNvSpPr/>
          <p:nvPr/>
        </p:nvSpPr>
        <p:spPr>
          <a:xfrm>
            <a:off x="868680" y="5440680"/>
            <a:ext cx="10515600" cy="594360"/>
          </a:xfrm>
          <a:prstGeom prst="rect">
            <a:avLst/>
          </a:prstGeom>
          <a:noFill/>
          <a:ln/>
        </p:spPr>
        <p:txBody>
          <a:bodyPr wrap="square" rtlCol="0" anchor="t"/>
          <a:lstStyle/>
          <a:p>
            <a:pPr marL="0" indent="0">
              <a:lnSpc>
                <a:spcPts val="1500"/>
              </a:lnSpc>
              <a:buNone/>
            </a:pPr>
            <a:r>
              <a:rPr lang="en-US" sz="1250" b="1" dirty="0">
                <a:solidFill>
                  <a:srgbClr val="1C7293"/>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"Which approach is most efficient" style questions compare 2-3 valid-looking options — these test depth of understanding, not familiarity</a:t>
            </a:r>
            <a:endParaRPr lang="en-US" sz="1250" dirty="0"/>
          </a:p>
        </p:txBody>
      </p:sp>
      <p:sp>
        <p:nvSpPr>
          <p:cNvPr id="21" name="Text 19"/>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9875520" y="4572000"/>
            <a:ext cx="4114800" cy="4114800"/>
          </a:xfrm>
          <a:prstGeom prst="ellipse">
            <a:avLst/>
          </a:prstGeom>
          <a:solidFill>
            <a:srgbClr val="C0392B">
              <a:alpha val="18000"/>
            </a:srgbClr>
          </a:solidFill>
          <a:ln/>
        </p:spPr>
      </p:sp>
      <p:sp>
        <p:nvSpPr>
          <p:cNvPr id="3" name="Text 1"/>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A CAUTIONARY TALE</a:t>
            </a:r>
            <a:endParaRPr lang="en-US" sz="1300" dirty="0"/>
          </a:p>
        </p:txBody>
      </p:sp>
      <p:sp>
        <p:nvSpPr>
          <p:cNvPr id="4" name="Text 2"/>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Exam Environment Is Strict — Really Strict</a:t>
            </a:r>
            <a:endParaRPr lang="en-US" sz="3000" dirty="0"/>
          </a:p>
        </p:txBody>
      </p:sp>
      <p:sp>
        <p:nvSpPr>
          <p:cNvPr id="5" name="Shape 3"/>
          <p:cNvSpPr/>
          <p:nvPr/>
        </p:nvSpPr>
        <p:spPr>
          <a:xfrm>
            <a:off x="548640" y="1691640"/>
            <a:ext cx="5486400" cy="4343400"/>
          </a:xfrm>
          <a:prstGeom prst="roundRect">
            <a:avLst>
              <a:gd name="adj" fmla="val 1684"/>
            </a:avLst>
          </a:prstGeom>
          <a:solidFill>
            <a:srgbClr val="12507A"/>
          </a:solidFill>
          <a:ln/>
        </p:spPr>
      </p:sp>
      <p:sp>
        <p:nvSpPr>
          <p:cNvPr id="6" name="Shape 4"/>
          <p:cNvSpPr/>
          <p:nvPr/>
        </p:nvSpPr>
        <p:spPr>
          <a:xfrm>
            <a:off x="822960" y="1965960"/>
            <a:ext cx="548640" cy="548640"/>
          </a:xfrm>
          <a:prstGeom prst="ellipse">
            <a:avLst/>
          </a:prstGeom>
          <a:solidFill>
            <a:srgbClr val="1C7293"/>
          </a:solidFill>
          <a:ln/>
        </p:spPr>
      </p:sp>
      <p:pic>
        <p:nvPicPr>
          <p:cNvPr id="7" name="Image 0" descr="/home/claude/pptx_work/icons/lock.png"/>
          <p:cNvPicPr>
            <a:picLocks noChangeAspect="1"/>
          </p:cNvPicPr>
          <p:nvPr/>
        </p:nvPicPr>
        <p:blipFill>
          <a:blip r:embed="rId3"/>
          <a:stretch>
            <a:fillRect/>
          </a:stretch>
        </p:blipFill>
        <p:spPr>
          <a:xfrm>
            <a:off x="894283" y="2037283"/>
            <a:ext cx="405994" cy="405994"/>
          </a:xfrm>
          <a:prstGeom prst="rect">
            <a:avLst/>
          </a:prstGeom>
        </p:spPr>
      </p:pic>
      <p:sp>
        <p:nvSpPr>
          <p:cNvPr id="8" name="Text 5"/>
          <p:cNvSpPr/>
          <p:nvPr/>
        </p:nvSpPr>
        <p:spPr>
          <a:xfrm>
            <a:off x="1508760" y="2011680"/>
            <a:ext cx="429768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the proctor checks</a:t>
            </a:r>
            <a:endParaRPr lang="en-US" sz="1500" dirty="0"/>
          </a:p>
        </p:txBody>
      </p:sp>
      <p:sp>
        <p:nvSpPr>
          <p:cNvPr id="9" name="Text 6"/>
          <p:cNvSpPr/>
          <p:nvPr/>
        </p:nvSpPr>
        <p:spPr>
          <a:xfrm>
            <a:off x="914400" y="2606040"/>
            <a:ext cx="4892040" cy="1005840"/>
          </a:xfrm>
          <a:prstGeom prst="rect">
            <a:avLst/>
          </a:prstGeom>
          <a:noFill/>
          <a:ln/>
        </p:spPr>
        <p:txBody>
          <a:bodyPr wrap="square" rtlCol="0" anchor="t"/>
          <a:lstStyle/>
          <a:p>
            <a:pPr marL="0" indent="0">
              <a:lnSpc>
                <a:spcPts val="1500"/>
              </a:lnSpc>
              <a:buNone/>
            </a:pPr>
            <a:r>
              <a:rPr lang="en-US" sz="1250" b="1" dirty="0">
                <a:solidFill>
                  <a:srgbClr val="F2A93B"/>
                </a:solidFill>
                <a:latin typeface="Calibri" pitchFamily="34" charset="0"/>
                <a:ea typeface="Calibri" pitchFamily="34" charset="-122"/>
                <a:cs typeface="Calibri" pitchFamily="34" charset="-120"/>
              </a:rPr>
              <a:t>•  </a:t>
            </a:r>
            <a:r>
              <a:rPr lang="en-US" sz="1250" dirty="0">
                <a:solidFill>
                  <a:srgbClr val="E4EDF4"/>
                </a:solidFill>
                <a:latin typeface="Calibri" pitchFamily="34" charset="0"/>
                <a:ea typeface="Calibri" pitchFamily="34" charset="-122"/>
                <a:cs typeface="Calibri" pitchFamily="34" charset="-120"/>
              </a:rPr>
              <a:t>Full room scan via webcam before the exam starts — clean desk, no papers, no second monitor, no phone</a:t>
            </a:r>
            <a:endParaRPr lang="en-US" sz="1250" dirty="0"/>
          </a:p>
        </p:txBody>
      </p:sp>
      <p:sp>
        <p:nvSpPr>
          <p:cNvPr id="10" name="Text 7"/>
          <p:cNvSpPr/>
          <p:nvPr/>
        </p:nvSpPr>
        <p:spPr>
          <a:xfrm>
            <a:off x="914400" y="3657600"/>
            <a:ext cx="4892040" cy="1005840"/>
          </a:xfrm>
          <a:prstGeom prst="rect">
            <a:avLst/>
          </a:prstGeom>
          <a:noFill/>
          <a:ln/>
        </p:spPr>
        <p:txBody>
          <a:bodyPr wrap="square" rtlCol="0" anchor="t"/>
          <a:lstStyle/>
          <a:p>
            <a:pPr marL="0" indent="0">
              <a:lnSpc>
                <a:spcPts val="1500"/>
              </a:lnSpc>
              <a:buNone/>
            </a:pPr>
            <a:r>
              <a:rPr lang="en-US" sz="1250" b="1" dirty="0">
                <a:solidFill>
                  <a:srgbClr val="F2A93B"/>
                </a:solidFill>
                <a:latin typeface="Calibri" pitchFamily="34" charset="0"/>
                <a:ea typeface="Calibri" pitchFamily="34" charset="-122"/>
                <a:cs typeface="Calibri" pitchFamily="34" charset="-120"/>
              </a:rPr>
              <a:t>•  </a:t>
            </a:r>
            <a:r>
              <a:rPr lang="en-US" sz="1250" dirty="0">
                <a:solidFill>
                  <a:srgbClr val="E4EDF4"/>
                </a:solidFill>
                <a:latin typeface="Calibri" pitchFamily="34" charset="0"/>
                <a:ea typeface="Calibri" pitchFamily="34" charset="-122"/>
                <a:cs typeface="Calibri" pitchFamily="34" charset="-120"/>
              </a:rPr>
              <a:t>You cannot look away from the screen for long or move around — sustained movement can pause the exam for a re-check</a:t>
            </a:r>
            <a:endParaRPr lang="en-US" sz="1250" dirty="0"/>
          </a:p>
        </p:txBody>
      </p:sp>
      <p:sp>
        <p:nvSpPr>
          <p:cNvPr id="11" name="Text 8"/>
          <p:cNvSpPr/>
          <p:nvPr/>
        </p:nvSpPr>
        <p:spPr>
          <a:xfrm>
            <a:off x="914400" y="4709160"/>
            <a:ext cx="4892040" cy="1005840"/>
          </a:xfrm>
          <a:prstGeom prst="rect">
            <a:avLst/>
          </a:prstGeom>
          <a:noFill/>
          <a:ln/>
        </p:spPr>
        <p:txBody>
          <a:bodyPr wrap="square" rtlCol="0" anchor="t"/>
          <a:lstStyle/>
          <a:p>
            <a:pPr marL="0" indent="0">
              <a:lnSpc>
                <a:spcPts val="1500"/>
              </a:lnSpc>
              <a:buNone/>
            </a:pPr>
            <a:r>
              <a:rPr lang="en-US" sz="1250" b="1" dirty="0">
                <a:solidFill>
                  <a:srgbClr val="F2A93B"/>
                </a:solidFill>
                <a:latin typeface="Calibri" pitchFamily="34" charset="0"/>
                <a:ea typeface="Calibri" pitchFamily="34" charset="-122"/>
                <a:cs typeface="Calibri" pitchFamily="34" charset="-120"/>
              </a:rPr>
              <a:t>•  </a:t>
            </a:r>
            <a:r>
              <a:rPr lang="en-US" sz="1250" dirty="0">
                <a:solidFill>
                  <a:srgbClr val="E4EDF4"/>
                </a:solidFill>
                <a:latin typeface="Calibri" pitchFamily="34" charset="0"/>
                <a:ea typeface="Calibri" pitchFamily="34" charset="-122"/>
                <a:cs typeface="Calibri" pitchFamily="34" charset="-120"/>
              </a:rPr>
              <a:t>This is noticeably stricter than the Azure or Snowflake certification exams I've taken</a:t>
            </a:r>
            <a:endParaRPr lang="en-US" sz="1250" dirty="0"/>
          </a:p>
        </p:txBody>
      </p:sp>
      <p:sp>
        <p:nvSpPr>
          <p:cNvPr id="12" name="Shape 9"/>
          <p:cNvSpPr/>
          <p:nvPr/>
        </p:nvSpPr>
        <p:spPr>
          <a:xfrm>
            <a:off x="6263640" y="1691640"/>
            <a:ext cx="5349240" cy="4343400"/>
          </a:xfrm>
          <a:prstGeom prst="roundRect">
            <a:avLst>
              <a:gd name="adj" fmla="val 1684"/>
            </a:avLst>
          </a:prstGeom>
          <a:solidFill>
            <a:srgbClr val="FFFFFF"/>
          </a:solidFill>
          <a:ln/>
        </p:spPr>
      </p:sp>
      <p:sp>
        <p:nvSpPr>
          <p:cNvPr id="13" name="Shape 10"/>
          <p:cNvSpPr/>
          <p:nvPr/>
        </p:nvSpPr>
        <p:spPr>
          <a:xfrm>
            <a:off x="6537960" y="1965960"/>
            <a:ext cx="548640" cy="548640"/>
          </a:xfrm>
          <a:prstGeom prst="ellipse">
            <a:avLst/>
          </a:prstGeom>
          <a:solidFill>
            <a:srgbClr val="C0392B"/>
          </a:solidFill>
          <a:ln/>
        </p:spPr>
      </p:sp>
      <p:pic>
        <p:nvPicPr>
          <p:cNvPr id="14" name="Image 1" descr="/home/claude/pptx_work/icons/warning.png"/>
          <p:cNvPicPr>
            <a:picLocks noChangeAspect="1"/>
          </p:cNvPicPr>
          <p:nvPr/>
        </p:nvPicPr>
        <p:blipFill>
          <a:blip r:embed="rId4"/>
          <a:stretch>
            <a:fillRect/>
          </a:stretch>
        </p:blipFill>
        <p:spPr>
          <a:xfrm>
            <a:off x="6609283" y="2037283"/>
            <a:ext cx="405994" cy="405994"/>
          </a:xfrm>
          <a:prstGeom prst="rect">
            <a:avLst/>
          </a:prstGeom>
        </p:spPr>
      </p:pic>
      <p:sp>
        <p:nvSpPr>
          <p:cNvPr id="15" name="Text 11"/>
          <p:cNvSpPr/>
          <p:nvPr/>
        </p:nvSpPr>
        <p:spPr>
          <a:xfrm>
            <a:off x="7223760" y="2011680"/>
            <a:ext cx="4206240" cy="457200"/>
          </a:xfrm>
          <a:prstGeom prst="rect">
            <a:avLst/>
          </a:prstGeom>
          <a:noFill/>
          <a:ln/>
        </p:spPr>
        <p:txBody>
          <a:bodyPr wrap="square" rtlCol="0" anchor="ctr"/>
          <a:lstStyle/>
          <a:p>
            <a:pPr marL="0" indent="0">
              <a:buNone/>
            </a:pPr>
            <a:r>
              <a:rPr lang="en-US" sz="1500" b="1" dirty="0">
                <a:solidFill>
                  <a:srgbClr val="0B3D5C"/>
                </a:solidFill>
                <a:latin typeface="Calibri" pitchFamily="34" charset="0"/>
                <a:ea typeface="Calibri" pitchFamily="34" charset="-122"/>
                <a:cs typeface="Calibri" pitchFamily="34" charset="-120"/>
              </a:rPr>
              <a:t>What actually happened to me</a:t>
            </a:r>
            <a:endParaRPr lang="en-US" sz="1500" dirty="0"/>
          </a:p>
        </p:txBody>
      </p:sp>
      <p:sp>
        <p:nvSpPr>
          <p:cNvPr id="16" name="Text 12"/>
          <p:cNvSpPr/>
          <p:nvPr/>
        </p:nvSpPr>
        <p:spPr>
          <a:xfrm>
            <a:off x="6537960" y="2606040"/>
            <a:ext cx="4800600" cy="3246120"/>
          </a:xfrm>
          <a:prstGeom prst="rect">
            <a:avLst/>
          </a:prstGeom>
          <a:noFill/>
          <a:ln/>
        </p:spPr>
        <p:txBody>
          <a:bodyPr wrap="square" rtlCol="0" anchor="t"/>
          <a:lstStyle/>
          <a:p>
            <a:pPr marL="0" indent="0">
              <a:lnSpc>
                <a:spcPts val="1700"/>
              </a:lnSpc>
              <a:buNone/>
            </a:pPr>
            <a:r>
              <a:rPr lang="en-US" sz="1250" b="1" dirty="0">
                <a:solidFill>
                  <a:srgbClr val="C0392B"/>
                </a:solidFill>
                <a:latin typeface="Calibri" pitchFamily="34" charset="0"/>
                <a:ea typeface="Calibri" pitchFamily="34" charset="-122"/>
                <a:cs typeface="Calibri" pitchFamily="34" charset="-120"/>
              </a:rPr>
              <a:t>1st attempt: </a:t>
            </a:r>
            <a:r>
              <a:rPr lang="en-US" sz="1250" dirty="0">
                <a:solidFill>
                  <a:srgbClr val="1A1A1A"/>
                </a:solidFill>
                <a:latin typeface="Calibri" pitchFamily="34" charset="0"/>
                <a:ea typeface="Calibri" pitchFamily="34" charset="-122"/>
                <a:cs typeface="Calibri" pitchFamily="34" charset="-120"/>
              </a:rPr>
              <a:t>Suspended mid-exam — the proctoring software flagged an antivirus/security conflict on my machine. Had to reschedule for a new slot.
</a:t>
            </a:r>
            <a:r>
              <a:rPr lang="en-US" sz="1250" b="1" dirty="0">
                <a:solidFill>
                  <a:srgbClr val="1E8A5F"/>
                </a:solidFill>
                <a:latin typeface="Calibri" pitchFamily="34" charset="0"/>
                <a:ea typeface="Calibri" pitchFamily="34" charset="-122"/>
                <a:cs typeface="Calibri" pitchFamily="34" charset="-120"/>
              </a:rPr>
              <a:t>Before the retake: </a:t>
            </a:r>
            <a:r>
              <a:rPr lang="en-US" sz="1250" dirty="0">
                <a:solidFill>
                  <a:srgbClr val="1A1A1A"/>
                </a:solidFill>
                <a:latin typeface="Calibri" pitchFamily="34" charset="0"/>
                <a:ea typeface="Calibri" pitchFamily="34" charset="-122"/>
                <a:cs typeface="Calibri" pitchFamily="34" charset="-120"/>
              </a:rPr>
              <a:t>I fully formatted my machine, removed conflicting antivirus software, and ran only what the exam required.
</a:t>
            </a:r>
            <a:r>
              <a:rPr lang="en-US" sz="1250" b="1" dirty="0">
                <a:solidFill>
                  <a:srgbClr val="1E8A5F"/>
                </a:solidFill>
                <a:latin typeface="Calibri" pitchFamily="34" charset="0"/>
                <a:ea typeface="Calibri" pitchFamily="34" charset="-122"/>
                <a:cs typeface="Calibri" pitchFamily="34" charset="-120"/>
              </a:rPr>
              <a:t>2nd attempt: </a:t>
            </a:r>
            <a:r>
              <a:rPr lang="en-US" sz="1250" dirty="0">
                <a:solidFill>
                  <a:srgbClr val="1A1A1A"/>
                </a:solidFill>
                <a:latin typeface="Calibri" pitchFamily="34" charset="0"/>
                <a:ea typeface="Calibri" pitchFamily="34" charset="-122"/>
                <a:cs typeface="Calibri" pitchFamily="34" charset="-120"/>
              </a:rPr>
              <a:t>Clean run, no interruptions — passed comfortably.</a:t>
            </a:r>
            <a:endParaRPr lang="en-US" sz="1250" dirty="0"/>
          </a:p>
        </p:txBody>
      </p:sp>
      <p:sp>
        <p:nvSpPr>
          <p:cNvPr id="17" name="Text 13"/>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9FB3C8"/>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18" name="Text 1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ADVICE</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Six Tips to Pass This Exam</a:t>
            </a:r>
            <a:endParaRPr lang="en-US" sz="3000" dirty="0"/>
          </a:p>
        </p:txBody>
      </p:sp>
      <p:sp>
        <p:nvSpPr>
          <p:cNvPr id="4" name="Shape 2"/>
          <p:cNvSpPr/>
          <p:nvPr/>
        </p:nvSpPr>
        <p:spPr>
          <a:xfrm>
            <a:off x="502920" y="1691640"/>
            <a:ext cx="3611880" cy="2148840"/>
          </a:xfrm>
          <a:prstGeom prst="roundRect">
            <a:avLst>
              <a:gd name="adj" fmla="val 3404"/>
            </a:avLst>
          </a:prstGeom>
          <a:solidFill>
            <a:srgbClr val="EEF3F6"/>
          </a:solidFill>
          <a:ln/>
        </p:spPr>
      </p:sp>
      <p:sp>
        <p:nvSpPr>
          <p:cNvPr id="5" name="Shape 3"/>
          <p:cNvSpPr/>
          <p:nvPr/>
        </p:nvSpPr>
        <p:spPr>
          <a:xfrm>
            <a:off x="731520" y="1947672"/>
            <a:ext cx="548640" cy="548640"/>
          </a:xfrm>
          <a:prstGeom prst="ellipse">
            <a:avLst/>
          </a:prstGeom>
          <a:solidFill>
            <a:srgbClr val="0B3D5C"/>
          </a:solidFill>
          <a:ln/>
        </p:spPr>
      </p:sp>
      <p:pic>
        <p:nvPicPr>
          <p:cNvPr id="6" name="Image 0" descr="/home/claude/pptx_work/icons/tools.png"/>
          <p:cNvPicPr>
            <a:picLocks noChangeAspect="1"/>
          </p:cNvPicPr>
          <p:nvPr/>
        </p:nvPicPr>
        <p:blipFill>
          <a:blip r:embed="rId3"/>
          <a:stretch>
            <a:fillRect/>
          </a:stretch>
        </p:blipFill>
        <p:spPr>
          <a:xfrm>
            <a:off x="802843" y="2018995"/>
            <a:ext cx="405994" cy="405994"/>
          </a:xfrm>
          <a:prstGeom prst="rect">
            <a:avLst/>
          </a:prstGeom>
        </p:spPr>
      </p:pic>
      <p:sp>
        <p:nvSpPr>
          <p:cNvPr id="7" name="Text 4"/>
          <p:cNvSpPr/>
          <p:nvPr/>
        </p:nvSpPr>
        <p:spPr>
          <a:xfrm>
            <a:off x="731520" y="2606040"/>
            <a:ext cx="3154680" cy="411480"/>
          </a:xfrm>
          <a:prstGeom prst="rect">
            <a:avLst/>
          </a:prstGeom>
          <a:noFill/>
          <a:ln/>
        </p:spPr>
        <p:txBody>
          <a:bodyPr wrap="square"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Build it, don't just watch it</a:t>
            </a:r>
            <a:endParaRPr lang="en-US" sz="1300" dirty="0"/>
          </a:p>
        </p:txBody>
      </p:sp>
      <p:sp>
        <p:nvSpPr>
          <p:cNvPr id="8" name="Text 5"/>
          <p:cNvSpPr/>
          <p:nvPr/>
        </p:nvSpPr>
        <p:spPr>
          <a:xfrm>
            <a:off x="731520" y="2990088"/>
            <a:ext cx="3154680" cy="77724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Run every concept hands-on — CDF, DLT expectations, Auto Loader — in a real workspace at least once</a:t>
            </a:r>
            <a:endParaRPr lang="en-US" sz="1050" dirty="0"/>
          </a:p>
        </p:txBody>
      </p:sp>
      <p:sp>
        <p:nvSpPr>
          <p:cNvPr id="9" name="Shape 6"/>
          <p:cNvSpPr/>
          <p:nvPr/>
        </p:nvSpPr>
        <p:spPr>
          <a:xfrm>
            <a:off x="4315968" y="1691640"/>
            <a:ext cx="3611880" cy="2148840"/>
          </a:xfrm>
          <a:prstGeom prst="roundRect">
            <a:avLst>
              <a:gd name="adj" fmla="val 3404"/>
            </a:avLst>
          </a:prstGeom>
          <a:solidFill>
            <a:srgbClr val="EEF3F6"/>
          </a:solidFill>
          <a:ln/>
        </p:spPr>
      </p:sp>
      <p:sp>
        <p:nvSpPr>
          <p:cNvPr id="10" name="Shape 7"/>
          <p:cNvSpPr/>
          <p:nvPr/>
        </p:nvSpPr>
        <p:spPr>
          <a:xfrm>
            <a:off x="4544568" y="1947672"/>
            <a:ext cx="548640" cy="548640"/>
          </a:xfrm>
          <a:prstGeom prst="ellipse">
            <a:avLst/>
          </a:prstGeom>
          <a:solidFill>
            <a:srgbClr val="1C7293"/>
          </a:solidFill>
          <a:ln/>
        </p:spPr>
      </p:sp>
      <p:pic>
        <p:nvPicPr>
          <p:cNvPr id="11" name="Image 1" descr="/home/claude/pptx_work/icons/target.png"/>
          <p:cNvPicPr>
            <a:picLocks noChangeAspect="1"/>
          </p:cNvPicPr>
          <p:nvPr/>
        </p:nvPicPr>
        <p:blipFill>
          <a:blip r:embed="rId4"/>
          <a:stretch>
            <a:fillRect/>
          </a:stretch>
        </p:blipFill>
        <p:spPr>
          <a:xfrm>
            <a:off x="4615891" y="2018995"/>
            <a:ext cx="405994" cy="405994"/>
          </a:xfrm>
          <a:prstGeom prst="rect">
            <a:avLst/>
          </a:prstGeom>
        </p:spPr>
      </p:pic>
      <p:sp>
        <p:nvSpPr>
          <p:cNvPr id="12" name="Text 8"/>
          <p:cNvSpPr/>
          <p:nvPr/>
        </p:nvSpPr>
        <p:spPr>
          <a:xfrm>
            <a:off x="4544568" y="2606040"/>
            <a:ext cx="3154680" cy="411480"/>
          </a:xfrm>
          <a:prstGeom prst="rect">
            <a:avLst/>
          </a:prstGeom>
          <a:noFill/>
          <a:ln/>
        </p:spPr>
        <p:txBody>
          <a:bodyPr wrap="square"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Prioritize by weightage</a:t>
            </a:r>
            <a:endParaRPr lang="en-US" sz="1300" dirty="0"/>
          </a:p>
        </p:txBody>
      </p:sp>
      <p:sp>
        <p:nvSpPr>
          <p:cNvPr id="13" name="Text 9"/>
          <p:cNvSpPr/>
          <p:nvPr/>
        </p:nvSpPr>
        <p:spPr>
          <a:xfrm>
            <a:off x="4544568" y="2990088"/>
            <a:ext cx="3154680" cy="77724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Spend more time on Delta Lake, streaming, and DLT — don't over-invest in areas you already know well</a:t>
            </a:r>
            <a:endParaRPr lang="en-US" sz="1050" dirty="0"/>
          </a:p>
        </p:txBody>
      </p:sp>
      <p:sp>
        <p:nvSpPr>
          <p:cNvPr id="14" name="Shape 10"/>
          <p:cNvSpPr/>
          <p:nvPr/>
        </p:nvSpPr>
        <p:spPr>
          <a:xfrm>
            <a:off x="8129016" y="1691640"/>
            <a:ext cx="3611880" cy="2148840"/>
          </a:xfrm>
          <a:prstGeom prst="roundRect">
            <a:avLst>
              <a:gd name="adj" fmla="val 3404"/>
            </a:avLst>
          </a:prstGeom>
          <a:solidFill>
            <a:srgbClr val="EEF3F6"/>
          </a:solidFill>
          <a:ln/>
        </p:spPr>
      </p:sp>
      <p:sp>
        <p:nvSpPr>
          <p:cNvPr id="15" name="Shape 11"/>
          <p:cNvSpPr/>
          <p:nvPr/>
        </p:nvSpPr>
        <p:spPr>
          <a:xfrm>
            <a:off x="8357616" y="1947672"/>
            <a:ext cx="548640" cy="548640"/>
          </a:xfrm>
          <a:prstGeom prst="ellipse">
            <a:avLst/>
          </a:prstGeom>
          <a:solidFill>
            <a:srgbClr val="0B3D5C"/>
          </a:solidFill>
          <a:ln/>
        </p:spPr>
      </p:sp>
      <p:pic>
        <p:nvPicPr>
          <p:cNvPr id="16" name="Image 2" descr="/home/claude/pptx_work/icons/clipboard.png"/>
          <p:cNvPicPr>
            <a:picLocks noChangeAspect="1"/>
          </p:cNvPicPr>
          <p:nvPr/>
        </p:nvPicPr>
        <p:blipFill>
          <a:blip r:embed="rId5"/>
          <a:stretch>
            <a:fillRect/>
          </a:stretch>
        </p:blipFill>
        <p:spPr>
          <a:xfrm>
            <a:off x="8428939" y="2018995"/>
            <a:ext cx="405994" cy="405994"/>
          </a:xfrm>
          <a:prstGeom prst="rect">
            <a:avLst/>
          </a:prstGeom>
        </p:spPr>
      </p:pic>
      <p:sp>
        <p:nvSpPr>
          <p:cNvPr id="17" name="Text 12"/>
          <p:cNvSpPr/>
          <p:nvPr/>
        </p:nvSpPr>
        <p:spPr>
          <a:xfrm>
            <a:off x="8357616" y="2606040"/>
            <a:ext cx="3154680" cy="411480"/>
          </a:xfrm>
          <a:prstGeom prst="rect">
            <a:avLst/>
          </a:prstGeom>
          <a:noFill/>
          <a:ln/>
        </p:spPr>
        <p:txBody>
          <a:bodyPr wrap="square"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Read the official docs</a:t>
            </a:r>
            <a:endParaRPr lang="en-US" sz="1300" dirty="0"/>
          </a:p>
        </p:txBody>
      </p:sp>
      <p:sp>
        <p:nvSpPr>
          <p:cNvPr id="18" name="Text 13"/>
          <p:cNvSpPr/>
          <p:nvPr/>
        </p:nvSpPr>
        <p:spPr>
          <a:xfrm>
            <a:off x="8357616" y="2990088"/>
            <a:ext cx="3154680" cy="77724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Databricks documentation is more precise than third-party blogs and matches the exam's phrasing closely</a:t>
            </a:r>
            <a:endParaRPr lang="en-US" sz="1050" dirty="0"/>
          </a:p>
        </p:txBody>
      </p:sp>
      <p:sp>
        <p:nvSpPr>
          <p:cNvPr id="19" name="Shape 14"/>
          <p:cNvSpPr/>
          <p:nvPr/>
        </p:nvSpPr>
        <p:spPr>
          <a:xfrm>
            <a:off x="502920" y="4023360"/>
            <a:ext cx="3611880" cy="2148840"/>
          </a:xfrm>
          <a:prstGeom prst="roundRect">
            <a:avLst>
              <a:gd name="adj" fmla="val 3404"/>
            </a:avLst>
          </a:prstGeom>
          <a:solidFill>
            <a:srgbClr val="EEF3F6"/>
          </a:solidFill>
          <a:ln/>
        </p:spPr>
      </p:sp>
      <p:sp>
        <p:nvSpPr>
          <p:cNvPr id="20" name="Shape 15"/>
          <p:cNvSpPr/>
          <p:nvPr/>
        </p:nvSpPr>
        <p:spPr>
          <a:xfrm>
            <a:off x="731520" y="4279392"/>
            <a:ext cx="548640" cy="548640"/>
          </a:xfrm>
          <a:prstGeom prst="ellipse">
            <a:avLst/>
          </a:prstGeom>
          <a:solidFill>
            <a:srgbClr val="1C7293"/>
          </a:solidFill>
          <a:ln/>
        </p:spPr>
      </p:sp>
      <p:pic>
        <p:nvPicPr>
          <p:cNvPr id="21" name="Image 3" descr="/home/claude/pptx_work/icons/clock.png"/>
          <p:cNvPicPr>
            <a:picLocks noChangeAspect="1"/>
          </p:cNvPicPr>
          <p:nvPr/>
        </p:nvPicPr>
        <p:blipFill>
          <a:blip r:embed="rId6"/>
          <a:stretch>
            <a:fillRect/>
          </a:stretch>
        </p:blipFill>
        <p:spPr>
          <a:xfrm>
            <a:off x="802843" y="4350715"/>
            <a:ext cx="405994" cy="405994"/>
          </a:xfrm>
          <a:prstGeom prst="rect">
            <a:avLst/>
          </a:prstGeom>
        </p:spPr>
      </p:pic>
      <p:sp>
        <p:nvSpPr>
          <p:cNvPr id="22" name="Text 16"/>
          <p:cNvSpPr/>
          <p:nvPr/>
        </p:nvSpPr>
        <p:spPr>
          <a:xfrm>
            <a:off x="731520" y="4937760"/>
            <a:ext cx="3154680" cy="411480"/>
          </a:xfrm>
          <a:prstGeom prst="rect">
            <a:avLst/>
          </a:prstGeom>
          <a:noFill/>
          <a:ln/>
        </p:spPr>
        <p:txBody>
          <a:bodyPr wrap="square"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Manage your time in-exam</a:t>
            </a:r>
            <a:endParaRPr lang="en-US" sz="1300" dirty="0"/>
          </a:p>
        </p:txBody>
      </p:sp>
      <p:sp>
        <p:nvSpPr>
          <p:cNvPr id="23" name="Text 17"/>
          <p:cNvSpPr/>
          <p:nvPr/>
        </p:nvSpPr>
        <p:spPr>
          <a:xfrm>
            <a:off x="731520" y="5321808"/>
            <a:ext cx="3154680" cy="77724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Flag long scenario questions and return later — I finished in 71 of 120 minutes with time to review</a:t>
            </a:r>
            <a:endParaRPr lang="en-US" sz="1050" dirty="0"/>
          </a:p>
        </p:txBody>
      </p:sp>
      <p:sp>
        <p:nvSpPr>
          <p:cNvPr id="24" name="Shape 18"/>
          <p:cNvSpPr/>
          <p:nvPr/>
        </p:nvSpPr>
        <p:spPr>
          <a:xfrm>
            <a:off x="4315968" y="4023360"/>
            <a:ext cx="3611880" cy="2148840"/>
          </a:xfrm>
          <a:prstGeom prst="roundRect">
            <a:avLst>
              <a:gd name="adj" fmla="val 3404"/>
            </a:avLst>
          </a:prstGeom>
          <a:solidFill>
            <a:srgbClr val="EEF3F6"/>
          </a:solidFill>
          <a:ln/>
        </p:spPr>
      </p:sp>
      <p:sp>
        <p:nvSpPr>
          <p:cNvPr id="25" name="Shape 19"/>
          <p:cNvSpPr/>
          <p:nvPr/>
        </p:nvSpPr>
        <p:spPr>
          <a:xfrm>
            <a:off x="4544568" y="4279392"/>
            <a:ext cx="548640" cy="548640"/>
          </a:xfrm>
          <a:prstGeom prst="ellipse">
            <a:avLst/>
          </a:prstGeom>
          <a:solidFill>
            <a:srgbClr val="0B3D5C"/>
          </a:solidFill>
          <a:ln/>
        </p:spPr>
      </p:sp>
      <p:pic>
        <p:nvPicPr>
          <p:cNvPr id="26" name="Image 4" descr="/home/claude/pptx_work/icons/check.png"/>
          <p:cNvPicPr>
            <a:picLocks noChangeAspect="1"/>
          </p:cNvPicPr>
          <p:nvPr/>
        </p:nvPicPr>
        <p:blipFill>
          <a:blip r:embed="rId7"/>
          <a:stretch>
            <a:fillRect/>
          </a:stretch>
        </p:blipFill>
        <p:spPr>
          <a:xfrm>
            <a:off x="4615891" y="4350715"/>
            <a:ext cx="405994" cy="405994"/>
          </a:xfrm>
          <a:prstGeom prst="rect">
            <a:avLst/>
          </a:prstGeom>
        </p:spPr>
      </p:pic>
      <p:sp>
        <p:nvSpPr>
          <p:cNvPr id="27" name="Text 20"/>
          <p:cNvSpPr/>
          <p:nvPr/>
        </p:nvSpPr>
        <p:spPr>
          <a:xfrm>
            <a:off x="4544568" y="4937760"/>
            <a:ext cx="3154680" cy="411480"/>
          </a:xfrm>
          <a:prstGeom prst="rect">
            <a:avLst/>
          </a:prstGeom>
          <a:noFill/>
          <a:ln/>
        </p:spPr>
        <p:txBody>
          <a:bodyPr wrap="square"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Take 2+ timed mock exams</a:t>
            </a:r>
            <a:endParaRPr lang="en-US" sz="1300" dirty="0"/>
          </a:p>
        </p:txBody>
      </p:sp>
      <p:sp>
        <p:nvSpPr>
          <p:cNvPr id="28" name="Text 21"/>
          <p:cNvSpPr/>
          <p:nvPr/>
        </p:nvSpPr>
        <p:spPr>
          <a:xfrm>
            <a:off x="4544568" y="5321808"/>
            <a:ext cx="3154680" cy="77724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This calibrates your pace and reveals real gaps rather than false confidence from watching content</a:t>
            </a:r>
            <a:endParaRPr lang="en-US" sz="1050" dirty="0"/>
          </a:p>
        </p:txBody>
      </p:sp>
      <p:sp>
        <p:nvSpPr>
          <p:cNvPr id="29" name="Shape 22"/>
          <p:cNvSpPr/>
          <p:nvPr/>
        </p:nvSpPr>
        <p:spPr>
          <a:xfrm>
            <a:off x="8129016" y="4023360"/>
            <a:ext cx="3611880" cy="2148840"/>
          </a:xfrm>
          <a:prstGeom prst="roundRect">
            <a:avLst>
              <a:gd name="adj" fmla="val 3404"/>
            </a:avLst>
          </a:prstGeom>
          <a:solidFill>
            <a:srgbClr val="EEF3F6"/>
          </a:solidFill>
          <a:ln/>
        </p:spPr>
      </p:sp>
      <p:sp>
        <p:nvSpPr>
          <p:cNvPr id="30" name="Shape 23"/>
          <p:cNvSpPr/>
          <p:nvPr/>
        </p:nvSpPr>
        <p:spPr>
          <a:xfrm>
            <a:off x="8357616" y="4279392"/>
            <a:ext cx="548640" cy="548640"/>
          </a:xfrm>
          <a:prstGeom prst="ellipse">
            <a:avLst/>
          </a:prstGeom>
          <a:solidFill>
            <a:srgbClr val="1C7293"/>
          </a:solidFill>
          <a:ln/>
        </p:spPr>
      </p:sp>
      <p:pic>
        <p:nvPicPr>
          <p:cNvPr id="31" name="Image 5" descr="/home/claude/pptx_work/icons/shield.png"/>
          <p:cNvPicPr>
            <a:picLocks noChangeAspect="1"/>
          </p:cNvPicPr>
          <p:nvPr/>
        </p:nvPicPr>
        <p:blipFill>
          <a:blip r:embed="rId8"/>
          <a:stretch>
            <a:fillRect/>
          </a:stretch>
        </p:blipFill>
        <p:spPr>
          <a:xfrm>
            <a:off x="8428939" y="4350715"/>
            <a:ext cx="405994" cy="405994"/>
          </a:xfrm>
          <a:prstGeom prst="rect">
            <a:avLst/>
          </a:prstGeom>
        </p:spPr>
      </p:pic>
      <p:sp>
        <p:nvSpPr>
          <p:cNvPr id="32" name="Text 24"/>
          <p:cNvSpPr/>
          <p:nvPr/>
        </p:nvSpPr>
        <p:spPr>
          <a:xfrm>
            <a:off x="8357616" y="4937760"/>
            <a:ext cx="3154680" cy="411480"/>
          </a:xfrm>
          <a:prstGeom prst="rect">
            <a:avLst/>
          </a:prstGeom>
          <a:noFill/>
          <a:ln/>
        </p:spPr>
        <p:txBody>
          <a:bodyPr wrap="square"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Don't skip governance &amp; sharing</a:t>
            </a:r>
            <a:endParaRPr lang="en-US" sz="1300" dirty="0"/>
          </a:p>
        </p:txBody>
      </p:sp>
      <p:sp>
        <p:nvSpPr>
          <p:cNvPr id="33" name="Text 25"/>
          <p:cNvSpPr/>
          <p:nvPr/>
        </p:nvSpPr>
        <p:spPr>
          <a:xfrm>
            <a:off x="8357616" y="5321808"/>
            <a:ext cx="3154680" cy="77724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Lower-profile in most training content, but scored meaningfully — my own weakest area</a:t>
            </a:r>
            <a:endParaRPr lang="en-US" sz="1050" dirty="0"/>
          </a:p>
        </p:txBody>
      </p:sp>
      <p:sp>
        <p:nvSpPr>
          <p:cNvPr id="34" name="Text 26"/>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35" name="Text 2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RESOURCES</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0B3D5C"/>
                </a:solidFill>
                <a:latin typeface="Cambria" pitchFamily="34" charset="0"/>
                <a:ea typeface="Cambria" pitchFamily="34" charset="-122"/>
                <a:cs typeface="Cambria" pitchFamily="34" charset="-120"/>
              </a:rPr>
              <a:t>Free &amp; Paid Material That Helped</a:t>
            </a:r>
            <a:endParaRPr lang="en-US" sz="3000" dirty="0"/>
          </a:p>
        </p:txBody>
      </p:sp>
      <p:sp>
        <p:nvSpPr>
          <p:cNvPr id="4" name="Shape 2"/>
          <p:cNvSpPr/>
          <p:nvPr/>
        </p:nvSpPr>
        <p:spPr>
          <a:xfrm>
            <a:off x="548640" y="1691640"/>
            <a:ext cx="5394960" cy="1417320"/>
          </a:xfrm>
          <a:prstGeom prst="roundRect">
            <a:avLst>
              <a:gd name="adj" fmla="val 5161"/>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5" name="Shape 3"/>
          <p:cNvSpPr/>
          <p:nvPr/>
        </p:nvSpPr>
        <p:spPr>
          <a:xfrm>
            <a:off x="749808" y="2075688"/>
            <a:ext cx="640080" cy="640080"/>
          </a:xfrm>
          <a:prstGeom prst="ellipse">
            <a:avLst/>
          </a:prstGeom>
          <a:solidFill>
            <a:srgbClr val="1C7293"/>
          </a:solidFill>
          <a:ln/>
        </p:spPr>
      </p:sp>
      <p:pic>
        <p:nvPicPr>
          <p:cNvPr id="6" name="Image 0" descr="/home/claude/pptx_work/icons/youtube.png"/>
          <p:cNvPicPr>
            <a:picLocks noChangeAspect="1"/>
          </p:cNvPicPr>
          <p:nvPr/>
        </p:nvPicPr>
        <p:blipFill>
          <a:blip r:embed="rId3"/>
          <a:stretch>
            <a:fillRect/>
          </a:stretch>
        </p:blipFill>
        <p:spPr>
          <a:xfrm>
            <a:off x="833018" y="2158898"/>
            <a:ext cx="473659" cy="473659"/>
          </a:xfrm>
          <a:prstGeom prst="rect">
            <a:avLst/>
          </a:prstGeom>
        </p:spPr>
      </p:pic>
      <p:sp>
        <p:nvSpPr>
          <p:cNvPr id="7" name="Text 4"/>
          <p:cNvSpPr/>
          <p:nvPr/>
        </p:nvSpPr>
        <p:spPr>
          <a:xfrm>
            <a:off x="1554480" y="1837944"/>
            <a:ext cx="4206240" cy="411480"/>
          </a:xfrm>
          <a:prstGeom prst="rect">
            <a:avLst/>
          </a:prstGeom>
          <a:noFill/>
          <a:ln/>
        </p:spPr>
        <p:txBody>
          <a:bodyPr wrap="square"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YouTube: Exam Tips &amp; Topic Walkthrough</a:t>
            </a:r>
            <a:endParaRPr lang="en-US" sz="1300" dirty="0"/>
          </a:p>
        </p:txBody>
      </p:sp>
      <p:sp>
        <p:nvSpPr>
          <p:cNvPr id="8" name="Text 5"/>
          <p:cNvSpPr/>
          <p:nvPr/>
        </p:nvSpPr>
        <p:spPr>
          <a:xfrm>
            <a:off x="1554480" y="2240280"/>
            <a:ext cx="4206240" cy="77724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Search-friendly overview video covering exam structure and topic priorities</a:t>
            </a:r>
            <a:endParaRPr lang="en-US" sz="1050" dirty="0"/>
          </a:p>
        </p:txBody>
      </p:sp>
      <p:sp>
        <p:nvSpPr>
          <p:cNvPr id="9" name="Shape 6"/>
          <p:cNvSpPr/>
          <p:nvPr/>
        </p:nvSpPr>
        <p:spPr>
          <a:xfrm>
            <a:off x="6400800" y="1691640"/>
            <a:ext cx="5394960" cy="1417320"/>
          </a:xfrm>
          <a:prstGeom prst="roundRect">
            <a:avLst>
              <a:gd name="adj" fmla="val 5161"/>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10" name="Shape 7"/>
          <p:cNvSpPr/>
          <p:nvPr/>
        </p:nvSpPr>
        <p:spPr>
          <a:xfrm>
            <a:off x="6601968" y="2075688"/>
            <a:ext cx="640080" cy="640080"/>
          </a:xfrm>
          <a:prstGeom prst="ellipse">
            <a:avLst/>
          </a:prstGeom>
          <a:solidFill>
            <a:srgbClr val="1C7293"/>
          </a:solidFill>
          <a:ln/>
        </p:spPr>
      </p:sp>
      <p:pic>
        <p:nvPicPr>
          <p:cNvPr id="11" name="Image 1" descr="/home/claude/pptx_work/icons/laptop.png"/>
          <p:cNvPicPr>
            <a:picLocks noChangeAspect="1"/>
          </p:cNvPicPr>
          <p:nvPr/>
        </p:nvPicPr>
        <p:blipFill>
          <a:blip r:embed="rId4"/>
          <a:stretch>
            <a:fillRect/>
          </a:stretch>
        </p:blipFill>
        <p:spPr>
          <a:xfrm>
            <a:off x="6685178" y="2158898"/>
            <a:ext cx="473659" cy="473659"/>
          </a:xfrm>
          <a:prstGeom prst="rect">
            <a:avLst/>
          </a:prstGeom>
        </p:spPr>
      </p:pic>
      <p:sp>
        <p:nvSpPr>
          <p:cNvPr id="12" name="Text 8"/>
          <p:cNvSpPr/>
          <p:nvPr/>
        </p:nvSpPr>
        <p:spPr>
          <a:xfrm>
            <a:off x="7406640" y="1837944"/>
            <a:ext cx="4206240" cy="411480"/>
          </a:xfrm>
          <a:prstGeom prst="rect">
            <a:avLst/>
          </a:prstGeom>
          <a:noFill/>
          <a:ln/>
        </p:spPr>
        <p:txBody>
          <a:bodyPr wrap="square"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Derar Alhussein's Udemy Course + GitHub</a:t>
            </a:r>
            <a:endParaRPr lang="en-US" sz="1300" dirty="0"/>
          </a:p>
        </p:txBody>
      </p:sp>
      <p:sp>
        <p:nvSpPr>
          <p:cNvPr id="13" name="Text 9"/>
          <p:cNvSpPr/>
          <p:nvPr/>
        </p:nvSpPr>
        <p:spPr>
          <a:xfrm>
            <a:off x="7406640" y="2240280"/>
            <a:ext cx="4206240" cy="77724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Structured course mapped to the exam guide, with free companion notebooks on GitHub for hands-on practice</a:t>
            </a:r>
            <a:endParaRPr lang="en-US" sz="1050" dirty="0"/>
          </a:p>
        </p:txBody>
      </p:sp>
      <p:sp>
        <p:nvSpPr>
          <p:cNvPr id="14" name="Shape 10"/>
          <p:cNvSpPr/>
          <p:nvPr/>
        </p:nvSpPr>
        <p:spPr>
          <a:xfrm>
            <a:off x="548640" y="3383280"/>
            <a:ext cx="5394960" cy="1417320"/>
          </a:xfrm>
          <a:prstGeom prst="roundRect">
            <a:avLst>
              <a:gd name="adj" fmla="val 5161"/>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15" name="Shape 11"/>
          <p:cNvSpPr/>
          <p:nvPr/>
        </p:nvSpPr>
        <p:spPr>
          <a:xfrm>
            <a:off x="749808" y="3767328"/>
            <a:ext cx="640080" cy="640080"/>
          </a:xfrm>
          <a:prstGeom prst="ellipse">
            <a:avLst/>
          </a:prstGeom>
          <a:solidFill>
            <a:srgbClr val="1C7293"/>
          </a:solidFill>
          <a:ln/>
        </p:spPr>
      </p:sp>
      <p:pic>
        <p:nvPicPr>
          <p:cNvPr id="16" name="Image 2" descr="/home/claude/pptx_work/icons/clipboard.png"/>
          <p:cNvPicPr>
            <a:picLocks noChangeAspect="1"/>
          </p:cNvPicPr>
          <p:nvPr/>
        </p:nvPicPr>
        <p:blipFill>
          <a:blip r:embed="rId5"/>
          <a:stretch>
            <a:fillRect/>
          </a:stretch>
        </p:blipFill>
        <p:spPr>
          <a:xfrm>
            <a:off x="833018" y="3850538"/>
            <a:ext cx="473659" cy="473659"/>
          </a:xfrm>
          <a:prstGeom prst="rect">
            <a:avLst/>
          </a:prstGeom>
        </p:spPr>
      </p:pic>
      <p:sp>
        <p:nvSpPr>
          <p:cNvPr id="17" name="Text 12"/>
          <p:cNvSpPr/>
          <p:nvPr/>
        </p:nvSpPr>
        <p:spPr>
          <a:xfrm>
            <a:off x="1554480" y="3529584"/>
            <a:ext cx="4206240" cy="411480"/>
          </a:xfrm>
          <a:prstGeom prst="rect">
            <a:avLst/>
          </a:prstGeom>
          <a:noFill/>
          <a:ln/>
        </p:spPr>
        <p:txBody>
          <a:bodyPr wrap="square"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Official Databricks Exam Guide &amp; Docs</a:t>
            </a:r>
            <a:endParaRPr lang="en-US" sz="1300" dirty="0"/>
          </a:p>
        </p:txBody>
      </p:sp>
      <p:sp>
        <p:nvSpPr>
          <p:cNvPr id="18" name="Text 13"/>
          <p:cNvSpPr/>
          <p:nvPr/>
        </p:nvSpPr>
        <p:spPr>
          <a:xfrm>
            <a:off x="1554480" y="3931920"/>
            <a:ext cx="4206240" cy="77724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The single most important free resource — start here before any paid material</a:t>
            </a:r>
            <a:endParaRPr lang="en-US" sz="1050" dirty="0"/>
          </a:p>
        </p:txBody>
      </p:sp>
      <p:sp>
        <p:nvSpPr>
          <p:cNvPr id="19" name="Shape 14"/>
          <p:cNvSpPr/>
          <p:nvPr/>
        </p:nvSpPr>
        <p:spPr>
          <a:xfrm>
            <a:off x="6400800" y="3383280"/>
            <a:ext cx="5394960" cy="1417320"/>
          </a:xfrm>
          <a:prstGeom prst="roundRect">
            <a:avLst>
              <a:gd name="adj" fmla="val 5161"/>
            </a:avLst>
          </a:prstGeom>
          <a:solidFill>
            <a:srgbClr val="FFFFFF"/>
          </a:solidFill>
          <a:ln w="12700">
            <a:solidFill>
              <a:srgbClr val="DCE4EA"/>
            </a:solidFill>
            <a:prstDash val="solid"/>
          </a:ln>
          <a:effectLst>
            <a:outerShdw blurRad="63500" dist="25400" dir="5400000" algn="bl" rotWithShape="0">
              <a:srgbClr val="000000">
                <a:alpha val="10000"/>
              </a:srgbClr>
            </a:outerShdw>
          </a:effectLst>
        </p:spPr>
      </p:sp>
      <p:sp>
        <p:nvSpPr>
          <p:cNvPr id="20" name="Shape 15"/>
          <p:cNvSpPr/>
          <p:nvPr/>
        </p:nvSpPr>
        <p:spPr>
          <a:xfrm>
            <a:off x="6601968" y="3767328"/>
            <a:ext cx="640080" cy="640080"/>
          </a:xfrm>
          <a:prstGeom prst="ellipse">
            <a:avLst/>
          </a:prstGeom>
          <a:solidFill>
            <a:srgbClr val="1C7293"/>
          </a:solidFill>
          <a:ln/>
        </p:spPr>
      </p:sp>
      <p:pic>
        <p:nvPicPr>
          <p:cNvPr id="21" name="Image 3" descr="/home/claude/pptx_work/icons/cap.png"/>
          <p:cNvPicPr>
            <a:picLocks noChangeAspect="1"/>
          </p:cNvPicPr>
          <p:nvPr/>
        </p:nvPicPr>
        <p:blipFill>
          <a:blip r:embed="rId6"/>
          <a:stretch>
            <a:fillRect/>
          </a:stretch>
        </p:blipFill>
        <p:spPr>
          <a:xfrm>
            <a:off x="6685178" y="3850538"/>
            <a:ext cx="473659" cy="473659"/>
          </a:xfrm>
          <a:prstGeom prst="rect">
            <a:avLst/>
          </a:prstGeom>
        </p:spPr>
      </p:pic>
      <p:sp>
        <p:nvSpPr>
          <p:cNvPr id="22" name="Text 16"/>
          <p:cNvSpPr/>
          <p:nvPr/>
        </p:nvSpPr>
        <p:spPr>
          <a:xfrm>
            <a:off x="7406640" y="3529584"/>
            <a:ext cx="4206240" cy="411480"/>
          </a:xfrm>
          <a:prstGeom prst="rect">
            <a:avLst/>
          </a:prstGeom>
          <a:noFill/>
          <a:ln/>
        </p:spPr>
        <p:txBody>
          <a:bodyPr wrap="square"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Official Databricks Certification Page</a:t>
            </a:r>
            <a:endParaRPr lang="en-US" sz="1300" dirty="0"/>
          </a:p>
        </p:txBody>
      </p:sp>
      <p:sp>
        <p:nvSpPr>
          <p:cNvPr id="23" name="Text 17"/>
          <p:cNvSpPr/>
          <p:nvPr/>
        </p:nvSpPr>
        <p:spPr>
          <a:xfrm>
            <a:off x="7406640" y="3931920"/>
            <a:ext cx="4206240" cy="777240"/>
          </a:xfrm>
          <a:prstGeom prst="rect">
            <a:avLst/>
          </a:prstGeom>
          <a:noFill/>
          <a:ln/>
        </p:spPr>
        <p:txBody>
          <a:bodyPr wrap="square"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Registration, exam policies, and the latest version of the exam guide</a:t>
            </a:r>
            <a:endParaRPr lang="en-US" sz="1050" dirty="0"/>
          </a:p>
        </p:txBody>
      </p:sp>
      <p:sp>
        <p:nvSpPr>
          <p:cNvPr id="24" name="Text 18"/>
          <p:cNvSpPr/>
          <p:nvPr/>
        </p:nvSpPr>
        <p:spPr>
          <a:xfrm>
            <a:off x="548640" y="5257800"/>
            <a:ext cx="11064240" cy="5486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Note: full links are in the companion written summary shared separately — pairing free YouTube content with the official exam guide and hands-on practice works best.</a:t>
            </a:r>
            <a:endParaRPr lang="en-US" sz="1100" dirty="0"/>
          </a:p>
        </p:txBody>
      </p:sp>
      <p:sp>
        <p:nvSpPr>
          <p:cNvPr id="25" name="Text 19"/>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26" name="Text 2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1645920" y="-1645920"/>
            <a:ext cx="5029200" cy="5029200"/>
          </a:xfrm>
          <a:prstGeom prst="ellipse">
            <a:avLst/>
          </a:prstGeom>
          <a:solidFill>
            <a:srgbClr val="1C7293">
              <a:alpha val="25000"/>
            </a:srgbClr>
          </a:solidFill>
          <a:ln/>
        </p:spPr>
      </p:sp>
      <p:sp>
        <p:nvSpPr>
          <p:cNvPr id="3" name="Shape 1"/>
          <p:cNvSpPr/>
          <p:nvPr/>
        </p:nvSpPr>
        <p:spPr>
          <a:xfrm>
            <a:off x="9875520" y="4114800"/>
            <a:ext cx="4114800" cy="4114800"/>
          </a:xfrm>
          <a:prstGeom prst="ellipse">
            <a:avLst/>
          </a:prstGeom>
          <a:solidFill>
            <a:srgbClr val="F2A93B">
              <a:alpha val="18000"/>
            </a:srgbClr>
          </a:solidFill>
          <a:ln/>
        </p:spPr>
      </p:sp>
      <p:sp>
        <p:nvSpPr>
          <p:cNvPr id="4" name="Text 2"/>
          <p:cNvSpPr/>
          <p:nvPr/>
        </p:nvSpPr>
        <p:spPr>
          <a:xfrm>
            <a:off x="822960" y="1005840"/>
            <a:ext cx="5486400" cy="365760"/>
          </a:xfrm>
          <a:prstGeom prst="rect">
            <a:avLst/>
          </a:prstGeom>
          <a:noFill/>
          <a:ln/>
        </p:spPr>
        <p:txBody>
          <a:bodyPr wrap="square" rtlCol="0" anchor="ctr"/>
          <a:lstStyle/>
          <a:p>
            <a:pPr marL="0" indent="0">
              <a:buNone/>
            </a:pPr>
            <a:r>
              <a:rPr lang="en-US" sz="1400" b="1" kern="0" spc="300" dirty="0">
                <a:solidFill>
                  <a:srgbClr val="F2A93B"/>
                </a:solidFill>
                <a:latin typeface="Calibri" pitchFamily="34" charset="0"/>
                <a:ea typeface="Calibri" pitchFamily="34" charset="-122"/>
                <a:cs typeface="Calibri" pitchFamily="34" charset="-120"/>
              </a:rPr>
              <a:t>NEXT STEPS</a:t>
            </a:r>
            <a:endParaRPr lang="en-US" sz="1400" dirty="0"/>
          </a:p>
        </p:txBody>
      </p:sp>
      <p:sp>
        <p:nvSpPr>
          <p:cNvPr id="5" name="Text 3"/>
          <p:cNvSpPr/>
          <p:nvPr/>
        </p:nvSpPr>
        <p:spPr>
          <a:xfrm>
            <a:off x="822960" y="1371600"/>
            <a:ext cx="91440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Where We Go From Here</a:t>
            </a:r>
            <a:endParaRPr lang="en-US" sz="3000" dirty="0"/>
          </a:p>
        </p:txBody>
      </p:sp>
      <p:sp>
        <p:nvSpPr>
          <p:cNvPr id="6" name="Shape 4"/>
          <p:cNvSpPr/>
          <p:nvPr/>
        </p:nvSpPr>
        <p:spPr>
          <a:xfrm>
            <a:off x="822960" y="2423160"/>
            <a:ext cx="457200" cy="457200"/>
          </a:xfrm>
          <a:prstGeom prst="ellipse">
            <a:avLst/>
          </a:prstGeom>
          <a:solidFill>
            <a:srgbClr val="1C7293"/>
          </a:solidFill>
          <a:ln/>
        </p:spPr>
      </p:sp>
      <p:pic>
        <p:nvPicPr>
          <p:cNvPr id="7" name="Image 0" descr="/home/claude/pptx_work/icons/check.png"/>
          <p:cNvPicPr>
            <a:picLocks noChangeAspect="1"/>
          </p:cNvPicPr>
          <p:nvPr/>
        </p:nvPicPr>
        <p:blipFill>
          <a:blip r:embed="rId3"/>
          <a:stretch>
            <a:fillRect/>
          </a:stretch>
        </p:blipFill>
        <p:spPr>
          <a:xfrm>
            <a:off x="882396" y="2482596"/>
            <a:ext cx="338328" cy="338328"/>
          </a:xfrm>
          <a:prstGeom prst="rect">
            <a:avLst/>
          </a:prstGeom>
        </p:spPr>
      </p:pic>
      <p:sp>
        <p:nvSpPr>
          <p:cNvPr id="8" name="Text 5"/>
          <p:cNvSpPr/>
          <p:nvPr/>
        </p:nvSpPr>
        <p:spPr>
          <a:xfrm>
            <a:off x="1463040" y="2423160"/>
            <a:ext cx="9601200" cy="868680"/>
          </a:xfrm>
          <a:prstGeom prst="rect">
            <a:avLst/>
          </a:prstGeom>
          <a:noFill/>
          <a:ln/>
        </p:spPr>
        <p:txBody>
          <a:bodyPr wrap="square" rtlCol="0" anchor="ctr"/>
          <a:lstStyle/>
          <a:p>
            <a:pPr marL="0" indent="0">
              <a:lnSpc>
                <a:spcPts val="1700"/>
              </a:lnSpc>
              <a:buNone/>
            </a:pPr>
            <a:r>
              <a:rPr lang="en-US" sz="1400" dirty="0">
                <a:solidFill>
                  <a:srgbClr val="E4EDF4"/>
                </a:solidFill>
                <a:latin typeface="Calibri" pitchFamily="34" charset="0"/>
                <a:ea typeface="Calibri" pitchFamily="34" charset="-122"/>
                <a:cs typeface="Calibri" pitchFamily="34" charset="-120"/>
              </a:rPr>
              <a:t>Apply Unity Catalog governance and Delta Sharing concepts to our current Azure Databricks work where relevant</a:t>
            </a:r>
            <a:endParaRPr lang="en-US" sz="1400" dirty="0"/>
          </a:p>
        </p:txBody>
      </p:sp>
      <p:sp>
        <p:nvSpPr>
          <p:cNvPr id="9" name="Shape 6"/>
          <p:cNvSpPr/>
          <p:nvPr/>
        </p:nvSpPr>
        <p:spPr>
          <a:xfrm>
            <a:off x="822960" y="3383280"/>
            <a:ext cx="457200" cy="457200"/>
          </a:xfrm>
          <a:prstGeom prst="ellipse">
            <a:avLst/>
          </a:prstGeom>
          <a:solidFill>
            <a:srgbClr val="1C7293"/>
          </a:solidFill>
          <a:ln/>
        </p:spPr>
      </p:sp>
      <p:pic>
        <p:nvPicPr>
          <p:cNvPr id="10" name="Image 1" descr="/home/claude/pptx_work/icons/check.png"/>
          <p:cNvPicPr>
            <a:picLocks noChangeAspect="1"/>
          </p:cNvPicPr>
          <p:nvPr/>
        </p:nvPicPr>
        <p:blipFill>
          <a:blip r:embed="rId3"/>
          <a:stretch>
            <a:fillRect/>
          </a:stretch>
        </p:blipFill>
        <p:spPr>
          <a:xfrm>
            <a:off x="882396" y="3442716"/>
            <a:ext cx="338328" cy="338328"/>
          </a:xfrm>
          <a:prstGeom prst="rect">
            <a:avLst/>
          </a:prstGeom>
        </p:spPr>
      </p:pic>
      <p:sp>
        <p:nvSpPr>
          <p:cNvPr id="11" name="Text 7"/>
          <p:cNvSpPr/>
          <p:nvPr/>
        </p:nvSpPr>
        <p:spPr>
          <a:xfrm>
            <a:off x="1463040" y="3383280"/>
            <a:ext cx="9601200" cy="868680"/>
          </a:xfrm>
          <a:prstGeom prst="rect">
            <a:avLst/>
          </a:prstGeom>
          <a:noFill/>
          <a:ln/>
        </p:spPr>
        <p:txBody>
          <a:bodyPr wrap="square" rtlCol="0" anchor="ctr"/>
          <a:lstStyle/>
          <a:p>
            <a:pPr marL="0" indent="0">
              <a:lnSpc>
                <a:spcPts val="1700"/>
              </a:lnSpc>
              <a:buNone/>
            </a:pPr>
            <a:r>
              <a:rPr lang="en-US" sz="1400" dirty="0">
                <a:solidFill>
                  <a:srgbClr val="E4EDF4"/>
                </a:solidFill>
                <a:latin typeface="Calibri" pitchFamily="34" charset="0"/>
                <a:ea typeface="Calibri" pitchFamily="34" charset="-122"/>
                <a:cs typeface="Calibri" pitchFamily="34" charset="-120"/>
              </a:rPr>
              <a:t>Open to running a deeper knowledge-sharing session on Delta Lake internals, DLT, or streaming if the team finds it useful</a:t>
            </a:r>
            <a:endParaRPr lang="en-US" sz="1400" dirty="0"/>
          </a:p>
        </p:txBody>
      </p:sp>
      <p:sp>
        <p:nvSpPr>
          <p:cNvPr id="12" name="Shape 8"/>
          <p:cNvSpPr/>
          <p:nvPr/>
        </p:nvSpPr>
        <p:spPr>
          <a:xfrm>
            <a:off x="822960" y="4343400"/>
            <a:ext cx="457200" cy="457200"/>
          </a:xfrm>
          <a:prstGeom prst="ellipse">
            <a:avLst/>
          </a:prstGeom>
          <a:solidFill>
            <a:srgbClr val="1C7293"/>
          </a:solidFill>
          <a:ln/>
        </p:spPr>
      </p:sp>
      <p:pic>
        <p:nvPicPr>
          <p:cNvPr id="13" name="Image 2" descr="/home/claude/pptx_work/icons/check.png"/>
          <p:cNvPicPr>
            <a:picLocks noChangeAspect="1"/>
          </p:cNvPicPr>
          <p:nvPr/>
        </p:nvPicPr>
        <p:blipFill>
          <a:blip r:embed="rId3"/>
          <a:stretch>
            <a:fillRect/>
          </a:stretch>
        </p:blipFill>
        <p:spPr>
          <a:xfrm>
            <a:off x="882396" y="4402836"/>
            <a:ext cx="338328" cy="338328"/>
          </a:xfrm>
          <a:prstGeom prst="rect">
            <a:avLst/>
          </a:prstGeom>
        </p:spPr>
      </p:pic>
      <p:sp>
        <p:nvSpPr>
          <p:cNvPr id="14" name="Text 9"/>
          <p:cNvSpPr/>
          <p:nvPr/>
        </p:nvSpPr>
        <p:spPr>
          <a:xfrm>
            <a:off x="1463040" y="4343400"/>
            <a:ext cx="9601200" cy="868680"/>
          </a:xfrm>
          <a:prstGeom prst="rect">
            <a:avLst/>
          </a:prstGeom>
          <a:noFill/>
          <a:ln/>
        </p:spPr>
        <p:txBody>
          <a:bodyPr wrap="square" rtlCol="0" anchor="ctr"/>
          <a:lstStyle/>
          <a:p>
            <a:pPr marL="0" indent="0">
              <a:lnSpc>
                <a:spcPts val="1700"/>
              </a:lnSpc>
              <a:buNone/>
            </a:pPr>
            <a:r>
              <a:rPr lang="en-US" sz="1400" dirty="0">
                <a:solidFill>
                  <a:srgbClr val="E4EDF4"/>
                </a:solidFill>
                <a:latin typeface="Calibri" pitchFamily="34" charset="0"/>
                <a:ea typeface="Calibri" pitchFamily="34" charset="-122"/>
                <a:cs typeface="Calibri" pitchFamily="34" charset="-120"/>
              </a:rPr>
              <a:t>Written summary with full resource links and my personal notes will be shared with everyone after this session</a:t>
            </a:r>
            <a:endParaRPr lang="en-US" sz="1400" dirty="0"/>
          </a:p>
        </p:txBody>
      </p:sp>
      <p:sp>
        <p:nvSpPr>
          <p:cNvPr id="15" name="Shape 10"/>
          <p:cNvSpPr/>
          <p:nvPr/>
        </p:nvSpPr>
        <p:spPr>
          <a:xfrm>
            <a:off x="822960" y="5623560"/>
            <a:ext cx="2011680" cy="0"/>
          </a:xfrm>
          <a:prstGeom prst="line">
            <a:avLst/>
          </a:prstGeom>
          <a:noFill/>
          <a:ln w="25400">
            <a:solidFill>
              <a:srgbClr val="F2A93B"/>
            </a:solidFill>
            <a:prstDash val="solid"/>
          </a:ln>
        </p:spPr>
      </p:sp>
      <p:sp>
        <p:nvSpPr>
          <p:cNvPr id="16" name="Text 11"/>
          <p:cNvSpPr/>
          <p:nvPr/>
        </p:nvSpPr>
        <p:spPr>
          <a:xfrm>
            <a:off x="822960" y="5806440"/>
            <a:ext cx="7315200" cy="457200"/>
          </a:xfrm>
          <a:prstGeom prst="rect">
            <a:avLst/>
          </a:prstGeom>
          <a:noFill/>
          <a:ln/>
        </p:spPr>
        <p:txBody>
          <a:bodyPr wrap="square"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Thank you — happy to take questions</a:t>
            </a:r>
            <a:endParaRPr lang="en-US" sz="1600" dirty="0"/>
          </a:p>
        </p:txBody>
      </p:sp>
      <p:sp>
        <p:nvSpPr>
          <p:cNvPr id="17" name="Text 12"/>
          <p:cNvSpPr/>
          <p:nvPr/>
        </p:nvSpPr>
        <p:spPr>
          <a:xfrm>
            <a:off x="457200" y="6473952"/>
            <a:ext cx="8229600" cy="274320"/>
          </a:xfrm>
          <a:prstGeom prst="rect">
            <a:avLst/>
          </a:prstGeom>
          <a:noFill/>
          <a:ln/>
        </p:spPr>
        <p:txBody>
          <a:bodyPr wrap="square" rtlCol="0" anchor="ctr"/>
          <a:lstStyle/>
          <a:p>
            <a:pPr marL="0" indent="0">
              <a:buNone/>
            </a:pPr>
            <a:r>
              <a:rPr lang="en-US" sz="900" dirty="0">
                <a:solidFill>
                  <a:srgbClr val="9FB3C8"/>
                </a:solidFill>
                <a:latin typeface="Calibri" pitchFamily="34" charset="0"/>
                <a:ea typeface="Calibri" pitchFamily="34" charset="-122"/>
                <a:cs typeface="Calibri" pitchFamily="34" charset="-120"/>
              </a:rPr>
              <a:t>Databricks Certified Data Engineer Professional — Certification Walkthrough</a:t>
            </a:r>
            <a:endParaRPr lang="en-US" sz="900" dirty="0"/>
          </a:p>
        </p:txBody>
      </p:sp>
      <p:sp>
        <p:nvSpPr>
          <p:cNvPr id="18" name="Text 1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2529</TotalTime>
  <Words>6336</Words>
  <Application>Microsoft Office PowerPoint</Application>
  <PresentationFormat>Widescreen</PresentationFormat>
  <Paragraphs>236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Vipinkumar Jha</cp:lastModifiedBy>
  <cp:revision>2</cp:revision>
  <dcterms:created xsi:type="dcterms:W3CDTF">2026-07-29T11:04:50Z</dcterms:created>
  <dcterms:modified xsi:type="dcterms:W3CDTF">2026-07-31T05:28:54Z</dcterms:modified>
</cp:coreProperties>
</file>